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Somos el grupo del proyecto Hotel Pacific Reef, correspondiente a la asignatura PRY3211 - Ingeniería de Software.
El grupo está compuesto por Pablo Higueras, Jesús Vera y Bastián Carrillo.
En esta presentación explicaremos el trabajo desarrollado para la Semana 8, tomando como base el MVP funcional construido en la Semana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principal de esta Semana 8 fue fortalecer el MVP existente y convertirlo en un release funcional más completo.
No nos enfocamos solamente en agregar pantallas, sino en demostrar integración real entre el front-end, el back-end desarrollado con Flask, la base de datos SQLite, un servicio web externo, endpoints JSON, pruebas funcionales y documentación de cierre.
En términos simples, esta semana buscamos que el sistema no solo funcionara visualmente, sino que también tuviera respaldo técnico, pruebas y evidencias claras para la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comenzar la Semana 8, el sistema ya tenía una base funcional importante heredada desde la Semana 7.
Existía una aplicación Flask conectada a una base de datos SQLite. También ya estaban implementadas la página principal, la consulta de disponibilidad, el registro básico de reserva, una pantalla de confirmación y un panel administrador inicial.
Sin embargo, al revisar el sistema detectamos algunas brechas. La principal era que las reservas seguían asociándose a un cliente fijo de prueba. Eso servía para demostrar el flujo básico, pero no representaba correctamente un proceso real de reserva.
Además, todavía no existía integración con un servicio externo, no existían endpoints JSON propios para consumo externo, y la documentación de pruebas y DOD todavía no estaba actualizada para el release de Semana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 las mejoras principales fue corregir el flujo de reserva.
Antes, cuando se registraba una reserva, el sistema la asociaba siempre a un cliente fijo de prueba. En esta versión eso se cambió.
Ahora el formulario de reserva recibe nombre, correo y teléfono del cliente. Con esos datos, el sistema busca si ya existe un usuario registrado con ese correo electrónico.
Si el correo existe, se reutiliza el cliente asociado. Si no existe, el sistema crea un nuevo usuario con rol de cliente y luego crea el registro correspondiente en la tabla cliente.
Finalmente, la reserva se registra usando el id_cliente real. Esto permite que la reserva quede asociada a un cliente creado o reutilizado desde la base de datos, y no a un dato fijo de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También se mejoró la visualización del resultado de la reserva.
La pantalla de confirmación ahora muestra el código de reserva, el estado, la habitación, las fechas de entrada y salida, la cantidad de huéspedes y los montos calculados.
Además, se agregó una sección de cliente asociado, donde se muestra el nombre, correo, teléfono e ID del cliente.
El panel administrador también fue actualizado. Ahora no solo muestra información de la reserva y de la habitación, sino también los datos del cliente asociado.
Esto permite validar desde la propia interfaz que la reserva quedó correctamente vinculada a un cliente real en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nivel técnico, el sistema mantiene una arquitectura simple y funcional.
El back-end está desarrollado con Python y Flask. La interfaz utiliza HTML, CSS y plantillas Jinja. La persistencia de datos se realiza mediante una base de datos SQLite.
Durante la Semana 8 se incorporaron dos mejoras técnicas importantes.
La primera fue la integración con el servicio externo Open-Meteo, utilizado para consultar información climática del destino turístico asociado al hotel.
La segunda fue la implementación de endpoints JSON propios en Flask, para que otra aplicación o herramienta pueda consultar información básica del sistema sin depender directamente de las vistas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integración con Open-Meteo permite consultar datos climáticos actuales del destino turístico.
El sistema muestra información como temperatura, velocidad del viento, dirección del viento, condición climática, código climático, fecha, hora y fuente de datos.
Además, esta información también se expone en formato JSON mediante un endpoint propio.
Los endpoints implementados fueron: api health, para verificar la conexión con la base de datos; api reservas, para consultar las reservas registradas; api disponibilidad, para consultar habitaciones disponibles mediante parámetros; y api clima destino, para consultar el clima del destino.
También se incorporaron validaciones. Por ejemplo, si se consulta disponibilidad con una fecha de salida anterior a la fecha de entrada, el sistema responde con un error controlado en formato JSON.
Con esto se demuestra que el sistema puede consumir información externa y también exponer información propia.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validar el trabajo realizado, también se actualizó la documentación de pruebas y cierre.
Primero se preparó una planilla de pruebas para Semana 8. Esta planilla incluye casos asociados a la carga del sistema, conexión con base de datos, consulta de disponibilidad, validación de fechas, registro de reserva, creación o reutilización de cliente, confirmación, panel administrador, servicio externo Open-Meteo y endpoints JSON.
También se actualizó el Definition of Done, registrando los criterios cumplidos y dejando como pendientes solo los elementos que realmente dependían del cierre final, como enlaces definitivos o respaldo de videos.
Además, se creó el Manual de Usuario Testing. Este documento explica cómo ejecutar la aplicación, qué navegador usar, qué datos de prueba ingresar, cómo registrar una reserva, cómo revisar el panel administrador y cómo probar los endpoints JSON.
Finalmente, las evidencias fueron organizadas por carpeta y se grabó un video demostrativo funcional. El enlace del video es: https://youtu.be/h2CGMhZ86Uk.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conclusión, el release Semana 8 fortalece el MVP desarrollado en la semana anterior.
El sistema ahora demuestra una integración más completa entre interfaz web, back-end, base de datos SQLite, servicio externo Open-Meteo y endpoints JSON.
También se mejoró el flujo de reserva, eliminando la dependencia de un cliente fijo de prueba y asociando cada reserva a un cliente real creado o reutilizado desde la base de datos.
Además, el trabajo quedó respaldado con planilla de pruebas, Definition of Done, Manual de Usuario Testing, evidencias organizadas y video demostrativo funcional.
El proyecto sigue siendo un prototipo académico ejecutado en ambiente local, pero cumple con el objetivo de evidenciar un flujo funcional de reserva hotelera, persistencia de datos, consumo de servicio externo, exposición de información mediante JSON y documentación de pruebas para el cierre del sprint.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youtu.be/h2CGMhZ86Uk"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sp>
      <p:sp>
        <p:nvSpPr>
          <p:cNvPr id="3" name="Shape 1"/>
          <p:cNvSpPr/>
          <p:nvPr/>
        </p:nvSpPr>
        <p:spPr>
          <a:xfrm>
            <a:off x="0" y="0"/>
            <a:ext cx="12191695" cy="201168"/>
          </a:xfrm>
          <a:prstGeom prst="rect">
            <a:avLst/>
          </a:prstGeom>
          <a:solidFill>
            <a:srgbClr val="2BB3A3"/>
          </a:solidFill>
          <a:ln w="12700">
            <a:solidFill>
              <a:srgbClr val="2BB3A3"/>
            </a:solidFill>
            <a:prstDash val="solid"/>
          </a:ln>
        </p:spPr>
      </p:sp>
      <p:sp>
        <p:nvSpPr>
          <p:cNvPr id="4" name="Text 2"/>
          <p:cNvSpPr/>
          <p:nvPr/>
        </p:nvSpPr>
        <p:spPr>
          <a:xfrm>
            <a:off x="777240" y="950976"/>
            <a:ext cx="9875520" cy="566928"/>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Hotel Pacific Reef</a:t>
            </a:r>
            <a:endParaRPr lang="en-US" sz="3800" dirty="0"/>
          </a:p>
        </p:txBody>
      </p:sp>
      <p:sp>
        <p:nvSpPr>
          <p:cNvPr id="5" name="Text 3"/>
          <p:cNvSpPr/>
          <p:nvPr/>
        </p:nvSpPr>
        <p:spPr>
          <a:xfrm>
            <a:off x="822960" y="1645920"/>
            <a:ext cx="9601200" cy="320040"/>
          </a:xfrm>
          <a:prstGeom prst="rect">
            <a:avLst/>
          </a:prstGeom>
          <a:noFill/>
          <a:ln/>
        </p:spPr>
        <p:txBody>
          <a:bodyPr wrap="square" lIns="0" tIns="0" rIns="0" bIns="0" rtlCol="0" anchor="ctr"/>
          <a:lstStyle/>
          <a:p>
            <a:pPr indent="0" marL="0">
              <a:buNone/>
            </a:pPr>
            <a:r>
              <a:rPr lang="en-US" sz="2000" dirty="0">
                <a:solidFill>
                  <a:srgbClr val="BFEAE5"/>
                </a:solidFill>
                <a:latin typeface="Arial" pitchFamily="34" charset="0"/>
                <a:ea typeface="Arial" pitchFamily="34" charset="-122"/>
                <a:cs typeface="Arial" pitchFamily="34" charset="-120"/>
              </a:rPr>
              <a:t>Release funcional Semana 8</a:t>
            </a:r>
            <a:endParaRPr lang="en-US" sz="2000" dirty="0"/>
          </a:p>
        </p:txBody>
      </p:sp>
      <p:sp>
        <p:nvSpPr>
          <p:cNvPr id="6" name="Shape 4"/>
          <p:cNvSpPr/>
          <p:nvPr/>
        </p:nvSpPr>
        <p:spPr>
          <a:xfrm>
            <a:off x="822960" y="2212848"/>
            <a:ext cx="5120640" cy="0"/>
          </a:xfrm>
          <a:prstGeom prst="line">
            <a:avLst/>
          </a:prstGeom>
          <a:noFill/>
          <a:ln w="25400">
            <a:solidFill>
              <a:srgbClr val="2BB3A3"/>
            </a:solidFill>
            <a:prstDash val="solid"/>
          </a:ln>
        </p:spPr>
      </p:sp>
      <p:sp>
        <p:nvSpPr>
          <p:cNvPr id="7" name="Text 5"/>
          <p:cNvSpPr/>
          <p:nvPr/>
        </p:nvSpPr>
        <p:spPr>
          <a:xfrm>
            <a:off x="822960" y="2697480"/>
            <a:ext cx="5943600" cy="2743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PRY3211 · Ingeniería de Software</a:t>
            </a:r>
            <a:endParaRPr lang="en-US" sz="1500" dirty="0"/>
          </a:p>
        </p:txBody>
      </p:sp>
      <p:sp>
        <p:nvSpPr>
          <p:cNvPr id="8" name="Text 6"/>
          <p:cNvSpPr/>
          <p:nvPr/>
        </p:nvSpPr>
        <p:spPr>
          <a:xfrm>
            <a:off x="822960" y="3657600"/>
            <a:ext cx="1828800" cy="228600"/>
          </a:xfrm>
          <a:prstGeom prst="rect">
            <a:avLst/>
          </a:prstGeom>
          <a:noFill/>
          <a:ln/>
        </p:spPr>
        <p:txBody>
          <a:bodyPr wrap="square" lIns="0" tIns="0" rIns="0" bIns="0" rtlCol="0" anchor="ctr"/>
          <a:lstStyle/>
          <a:p>
            <a:pPr indent="0" marL="0">
              <a:buNone/>
            </a:pPr>
            <a:r>
              <a:rPr lang="en-US" sz="1400" b="1" dirty="0">
                <a:solidFill>
                  <a:srgbClr val="BFEAE5"/>
                </a:solidFill>
                <a:latin typeface="Arial" pitchFamily="34" charset="0"/>
                <a:ea typeface="Arial" pitchFamily="34" charset="-122"/>
                <a:cs typeface="Arial" pitchFamily="34" charset="-120"/>
              </a:rPr>
              <a:t>Integrantes</a:t>
            </a:r>
            <a:endParaRPr lang="en-US" sz="1400" dirty="0"/>
          </a:p>
        </p:txBody>
      </p:sp>
      <p:sp>
        <p:nvSpPr>
          <p:cNvPr id="9" name="Text 7"/>
          <p:cNvSpPr/>
          <p:nvPr/>
        </p:nvSpPr>
        <p:spPr>
          <a:xfrm>
            <a:off x="822960" y="4005072"/>
            <a:ext cx="4389120" cy="841248"/>
          </a:xfrm>
          <a:prstGeom prst="rect">
            <a:avLst/>
          </a:prstGeom>
          <a:noFill/>
          <a:ln/>
        </p:spPr>
        <p:txBody>
          <a:bodyPr wrap="square" lIns="0" tIns="0" rIns="0" bIns="0" rtlCol="0" anchor="ctr">
            <a:normAutofit/>
          </a:bodyPr>
          <a:lstStyle/>
          <a:p>
            <a:pPr indent="0" marL="0">
              <a:buNone/>
            </a:pPr>
            <a:r>
              <a:rPr lang="en-US" sz="1700" dirty="0">
                <a:solidFill>
                  <a:srgbClr val="FFFFFF"/>
                </a:solidFill>
                <a:latin typeface="Arial" pitchFamily="34" charset="0"/>
                <a:ea typeface="Arial" pitchFamily="34" charset="-122"/>
                <a:cs typeface="Arial" pitchFamily="34" charset="-120"/>
              </a:rPr>
              <a:t>Pablo Higueras</a:t>
            </a: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Jesús Vera</a:t>
            </a:r>
            <a:endParaRPr lang="en-US" sz="1700" dirty="0"/>
          </a:p>
          <a:p>
            <a:pPr indent="0" marL="0">
              <a:buNone/>
            </a:pPr>
            <a:r>
              <a:rPr lang="en-US" sz="1700" dirty="0">
                <a:solidFill>
                  <a:srgbClr val="FFFFFF"/>
                </a:solidFill>
                <a:latin typeface="Arial" pitchFamily="34" charset="0"/>
                <a:ea typeface="Arial" pitchFamily="34" charset="-122"/>
                <a:cs typeface="Arial" pitchFamily="34" charset="-120"/>
              </a:rPr>
              <a:t>Bastián Carrillo</a:t>
            </a:r>
            <a:endParaRPr lang="en-US" sz="1700" dirty="0"/>
          </a:p>
        </p:txBody>
      </p:sp>
      <p:sp>
        <p:nvSpPr>
          <p:cNvPr id="10" name="Shape 8"/>
          <p:cNvSpPr/>
          <p:nvPr/>
        </p:nvSpPr>
        <p:spPr>
          <a:xfrm>
            <a:off x="0" y="6519672"/>
            <a:ext cx="12191695" cy="338328"/>
          </a:xfrm>
          <a:prstGeom prst="rect">
            <a:avLst/>
          </a:prstGeom>
          <a:solidFill>
            <a:srgbClr val="0B1F33"/>
          </a:solidFill>
          <a:ln w="12700">
            <a:solidFill>
              <a:srgbClr val="0B1F33"/>
            </a:solidFill>
            <a:prstDash val="solid"/>
          </a:ln>
        </p:spPr>
      </p:sp>
      <p:sp>
        <p:nvSpPr>
          <p:cNvPr id="11" name="Text 9"/>
          <p:cNvSpPr/>
          <p:nvPr/>
        </p:nvSpPr>
        <p:spPr>
          <a:xfrm>
            <a:off x="420624" y="6611112"/>
            <a:ext cx="5852160" cy="118872"/>
          </a:xfrm>
          <a:prstGeom prst="rect">
            <a:avLst/>
          </a:prstGeom>
          <a:noFill/>
          <a:ln/>
        </p:spPr>
        <p:txBody>
          <a:bodyPr wrap="square" lIns="0" tIns="0" rIns="0" bIns="0" rtlCol="0" anchor="ctr"/>
          <a:lstStyle/>
          <a:p>
            <a:pPr indent="0" marL="0">
              <a:buNone/>
            </a:pPr>
            <a:r>
              <a:rPr lang="en-US" sz="760" dirty="0">
                <a:solidFill>
                  <a:srgbClr val="FFFFFF"/>
                </a:solidFill>
                <a:latin typeface="Arial" pitchFamily="34" charset="0"/>
                <a:ea typeface="Arial" pitchFamily="34" charset="-122"/>
                <a:cs typeface="Arial" pitchFamily="34" charset="-120"/>
              </a:rPr>
              <a:t>PRY3211 · Ingeniería de Software · Hotel Pacific Reef</a:t>
            </a:r>
            <a:endParaRPr lang="en-US" sz="760" dirty="0"/>
          </a:p>
        </p:txBody>
      </p:sp>
      <p:sp>
        <p:nvSpPr>
          <p:cNvPr id="12" name="Text 10"/>
          <p:cNvSpPr/>
          <p:nvPr/>
        </p:nvSpPr>
        <p:spPr>
          <a:xfrm>
            <a:off x="6858000" y="6611112"/>
            <a:ext cx="3429000" cy="118872"/>
          </a:xfrm>
          <a:prstGeom prst="rect">
            <a:avLst/>
          </a:prstGeom>
          <a:noFill/>
          <a:ln/>
        </p:spPr>
        <p:txBody>
          <a:bodyPr wrap="square" lIns="0" tIns="0" rIns="0" bIns="0" rtlCol="0" anchor="ctr"/>
          <a:lstStyle/>
          <a:p>
            <a:pPr algn="r" indent="0" marL="0">
              <a:buNone/>
            </a:pPr>
            <a:r>
              <a:rPr lang="en-US" sz="760" dirty="0">
                <a:solidFill>
                  <a:srgbClr val="FFFFFF"/>
                </a:solidFill>
                <a:latin typeface="Arial" pitchFamily="34" charset="0"/>
                <a:ea typeface="Arial" pitchFamily="34" charset="-122"/>
                <a:cs typeface="Arial" pitchFamily="34" charset="-120"/>
              </a:rPr>
              <a:t>Habla: Pablo Higueras</a:t>
            </a:r>
            <a:endParaRPr lang="en-US" sz="760" dirty="0"/>
          </a:p>
        </p:txBody>
      </p:sp>
      <p:sp>
        <p:nvSpPr>
          <p:cNvPr id="13" name="Text 11"/>
          <p:cNvSpPr/>
          <p:nvPr/>
        </p:nvSpPr>
        <p:spPr>
          <a:xfrm>
            <a:off x="11064240" y="6556248"/>
            <a:ext cx="685800" cy="1920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01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BB3A3"/>
          </a:solidFill>
          <a:ln w="12700">
            <a:solidFill>
              <a:srgbClr val="2BB3A3"/>
            </a:solidFill>
            <a:prstDash val="solid"/>
          </a:ln>
        </p:spPr>
      </p:sp>
      <p:sp>
        <p:nvSpPr>
          <p:cNvPr id="3" name="Text 1"/>
          <p:cNvSpPr/>
          <p:nvPr/>
        </p:nvSpPr>
        <p:spPr>
          <a:xfrm>
            <a:off x="594360" y="493776"/>
            <a:ext cx="9784080" cy="411480"/>
          </a:xfrm>
          <a:prstGeom prst="rect">
            <a:avLst/>
          </a:prstGeom>
          <a:noFill/>
          <a:ln/>
        </p:spPr>
        <p:txBody>
          <a:bodyPr wrap="square" lIns="0" tIns="0" rIns="0" bIns="0" rtlCol="0" anchor="ctr"/>
          <a:lstStyle/>
          <a:p>
            <a:pPr indent="0" marL="0">
              <a:buNone/>
            </a:pPr>
            <a:r>
              <a:rPr lang="en-US" sz="2500" b="1" dirty="0">
                <a:solidFill>
                  <a:srgbClr val="0B1F33"/>
                </a:solidFill>
                <a:latin typeface="Arial" pitchFamily="34" charset="0"/>
                <a:ea typeface="Arial" pitchFamily="34" charset="-122"/>
                <a:cs typeface="Arial" pitchFamily="34" charset="-120"/>
              </a:rPr>
              <a:t>Objetivo del release Semana 8</a:t>
            </a:r>
            <a:endParaRPr lang="en-US" sz="2500" dirty="0"/>
          </a:p>
        </p:txBody>
      </p:sp>
      <p:sp>
        <p:nvSpPr>
          <p:cNvPr id="4" name="Text 2"/>
          <p:cNvSpPr/>
          <p:nvPr/>
        </p:nvSpPr>
        <p:spPr>
          <a:xfrm>
            <a:off x="621792" y="960120"/>
            <a:ext cx="10424160" cy="228600"/>
          </a:xfrm>
          <a:prstGeom prst="rect">
            <a:avLst/>
          </a:prstGeom>
          <a:noFill/>
          <a:ln/>
        </p:spPr>
        <p:txBody>
          <a:bodyPr wrap="square" lIns="0" tIns="0" rIns="0" bIns="0" rtlCol="0" anchor="ctr"/>
          <a:lstStyle/>
          <a:p>
            <a:pPr indent="0" marL="0">
              <a:buNone/>
            </a:pPr>
            <a:r>
              <a:rPr lang="en-US" sz="1130" dirty="0">
                <a:solidFill>
                  <a:srgbClr val="637083"/>
                </a:solidFill>
                <a:latin typeface="Arial" pitchFamily="34" charset="0"/>
                <a:ea typeface="Arial" pitchFamily="34" charset="-122"/>
                <a:cs typeface="Arial" pitchFamily="34" charset="-120"/>
              </a:rPr>
              <a:t>Fortalecer el MVP existente y convertirlo en un release funcional completo.</a:t>
            </a:r>
            <a:endParaRPr lang="en-US" sz="1130" dirty="0"/>
          </a:p>
        </p:txBody>
      </p:sp>
      <p:sp>
        <p:nvSpPr>
          <p:cNvPr id="5" name="Shape 3"/>
          <p:cNvSpPr/>
          <p:nvPr/>
        </p:nvSpPr>
        <p:spPr>
          <a:xfrm>
            <a:off x="0" y="6519672"/>
            <a:ext cx="12191695" cy="338328"/>
          </a:xfrm>
          <a:prstGeom prst="rect">
            <a:avLst/>
          </a:prstGeom>
          <a:solidFill>
            <a:srgbClr val="0B1F33"/>
          </a:solidFill>
          <a:ln w="12700">
            <a:solidFill>
              <a:srgbClr val="0B1F33"/>
            </a:solidFill>
            <a:prstDash val="solid"/>
          </a:ln>
        </p:spPr>
      </p:sp>
      <p:sp>
        <p:nvSpPr>
          <p:cNvPr id="6" name="Text 4"/>
          <p:cNvSpPr/>
          <p:nvPr/>
        </p:nvSpPr>
        <p:spPr>
          <a:xfrm>
            <a:off x="420624" y="6611112"/>
            <a:ext cx="5852160" cy="118872"/>
          </a:xfrm>
          <a:prstGeom prst="rect">
            <a:avLst/>
          </a:prstGeom>
          <a:noFill/>
          <a:ln/>
        </p:spPr>
        <p:txBody>
          <a:bodyPr wrap="square" lIns="0" tIns="0" rIns="0" bIns="0" rtlCol="0" anchor="ctr"/>
          <a:lstStyle/>
          <a:p>
            <a:pPr indent="0" marL="0">
              <a:buNone/>
            </a:pPr>
            <a:r>
              <a:rPr lang="en-US" sz="760" dirty="0">
                <a:solidFill>
                  <a:srgbClr val="FFFFFF"/>
                </a:solidFill>
                <a:latin typeface="Arial" pitchFamily="34" charset="0"/>
                <a:ea typeface="Arial" pitchFamily="34" charset="-122"/>
                <a:cs typeface="Arial" pitchFamily="34" charset="-120"/>
              </a:rPr>
              <a:t>PRY3211 · Ingeniería de Software · Hotel Pacific Reef</a:t>
            </a:r>
            <a:endParaRPr lang="en-US" sz="760" dirty="0"/>
          </a:p>
        </p:txBody>
      </p:sp>
      <p:sp>
        <p:nvSpPr>
          <p:cNvPr id="7" name="Text 5"/>
          <p:cNvSpPr/>
          <p:nvPr/>
        </p:nvSpPr>
        <p:spPr>
          <a:xfrm>
            <a:off x="6858000" y="6611112"/>
            <a:ext cx="3429000" cy="118872"/>
          </a:xfrm>
          <a:prstGeom prst="rect">
            <a:avLst/>
          </a:prstGeom>
          <a:noFill/>
          <a:ln/>
        </p:spPr>
        <p:txBody>
          <a:bodyPr wrap="square" lIns="0" tIns="0" rIns="0" bIns="0" rtlCol="0" anchor="ctr"/>
          <a:lstStyle/>
          <a:p>
            <a:pPr algn="r" indent="0" marL="0">
              <a:buNone/>
            </a:pPr>
            <a:r>
              <a:rPr lang="en-US" sz="760" dirty="0">
                <a:solidFill>
                  <a:srgbClr val="FFFFFF"/>
                </a:solidFill>
                <a:latin typeface="Arial" pitchFamily="34" charset="0"/>
                <a:ea typeface="Arial" pitchFamily="34" charset="-122"/>
                <a:cs typeface="Arial" pitchFamily="34" charset="-120"/>
              </a:rPr>
              <a:t>Habla: Pablo Higueras</a:t>
            </a:r>
            <a:endParaRPr lang="en-US" sz="760" dirty="0"/>
          </a:p>
        </p:txBody>
      </p:sp>
      <p:sp>
        <p:nvSpPr>
          <p:cNvPr id="8" name="Text 6"/>
          <p:cNvSpPr/>
          <p:nvPr/>
        </p:nvSpPr>
        <p:spPr>
          <a:xfrm>
            <a:off x="11064240" y="6556248"/>
            <a:ext cx="685800" cy="1920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02</a:t>
            </a:r>
            <a:endParaRPr lang="en-US" sz="950" dirty="0"/>
          </a:p>
        </p:txBody>
      </p:sp>
      <p:sp>
        <p:nvSpPr>
          <p:cNvPr id="9" name="Shape 7"/>
          <p:cNvSpPr/>
          <p:nvPr/>
        </p:nvSpPr>
        <p:spPr>
          <a:xfrm>
            <a:off x="685800" y="1572768"/>
            <a:ext cx="3291840" cy="3566160"/>
          </a:xfrm>
          <a:prstGeom prst="roundRect">
            <a:avLst>
              <a:gd name="adj" fmla="val 2222"/>
            </a:avLst>
          </a:prstGeom>
          <a:solidFill>
            <a:srgbClr val="FFFFFF"/>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0" name="Text 8"/>
          <p:cNvSpPr/>
          <p:nvPr/>
        </p:nvSpPr>
        <p:spPr>
          <a:xfrm>
            <a:off x="914400" y="1755648"/>
            <a:ext cx="283464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Objetivo</a:t>
            </a:r>
            <a:endParaRPr lang="en-US" sz="1460" dirty="0"/>
          </a:p>
        </p:txBody>
      </p:sp>
      <p:sp>
        <p:nvSpPr>
          <p:cNvPr id="11" name="Text 9"/>
          <p:cNvSpPr/>
          <p:nvPr/>
        </p:nvSpPr>
        <p:spPr>
          <a:xfrm>
            <a:off x="914400" y="2103120"/>
            <a:ext cx="2834640" cy="2852928"/>
          </a:xfrm>
          <a:prstGeom prst="rect">
            <a:avLst/>
          </a:prstGeom>
          <a:noFill/>
          <a:ln/>
        </p:spPr>
        <p:txBody>
          <a:bodyPr wrap="square" lIns="254" tIns="254" rIns="254" bIns="254" rtlCol="0" anchor="t">
            <a:normAutofit/>
          </a:bodyPr>
          <a:lstStyle/>
          <a:p>
            <a:pPr indent="0" marL="0">
              <a:buNone/>
            </a:pPr>
            <a:r>
              <a:rPr lang="en-US" sz="1600" dirty="0">
                <a:solidFill>
                  <a:srgbClr val="1F2937"/>
                </a:solidFill>
                <a:latin typeface="Arial" pitchFamily="34" charset="0"/>
                <a:ea typeface="Arial" pitchFamily="34" charset="-122"/>
                <a:cs typeface="Arial" pitchFamily="34" charset="-120"/>
              </a:rPr>
              <a:t>Fortalecer el MVP heredado desde Semana 7.</a:t>
            </a:r>
            <a:endParaRPr lang="en-US" sz="1600" dirty="0"/>
          </a:p>
        </p:txBody>
      </p:sp>
      <p:sp>
        <p:nvSpPr>
          <p:cNvPr id="12" name="Shape 10"/>
          <p:cNvSpPr/>
          <p:nvPr/>
        </p:nvSpPr>
        <p:spPr>
          <a:xfrm>
            <a:off x="4389120" y="1572768"/>
            <a:ext cx="3291840" cy="3566160"/>
          </a:xfrm>
          <a:prstGeom prst="roundRect">
            <a:avLst>
              <a:gd name="adj" fmla="val 2222"/>
            </a:avLst>
          </a:prstGeom>
          <a:solidFill>
            <a:srgbClr val="EAF3FA"/>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3" name="Text 11"/>
          <p:cNvSpPr/>
          <p:nvPr/>
        </p:nvSpPr>
        <p:spPr>
          <a:xfrm>
            <a:off x="4617720" y="1755648"/>
            <a:ext cx="283464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Integración real</a:t>
            </a:r>
            <a:endParaRPr lang="en-US" sz="1460" dirty="0"/>
          </a:p>
        </p:txBody>
      </p:sp>
      <p:sp>
        <p:nvSpPr>
          <p:cNvPr id="14" name="Text 12"/>
          <p:cNvSpPr/>
          <p:nvPr/>
        </p:nvSpPr>
        <p:spPr>
          <a:xfrm>
            <a:off x="4617720" y="2103120"/>
            <a:ext cx="2834640" cy="2852928"/>
          </a:xfrm>
          <a:prstGeom prst="rect">
            <a:avLst/>
          </a:prstGeom>
          <a:noFill/>
          <a:ln/>
        </p:spPr>
        <p:txBody>
          <a:bodyPr wrap="square" lIns="254" tIns="254" rIns="254" bIns="254"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Front-end</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Back-end Flask</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Base de datos SQLite</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Servicio web externo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Endpoints JSON</a:t>
            </a:r>
            <a:endParaRPr lang="en-US" sz="1500" dirty="0"/>
          </a:p>
        </p:txBody>
      </p:sp>
      <p:sp>
        <p:nvSpPr>
          <p:cNvPr id="15" name="Shape 13"/>
          <p:cNvSpPr/>
          <p:nvPr/>
        </p:nvSpPr>
        <p:spPr>
          <a:xfrm>
            <a:off x="8092440" y="1572768"/>
            <a:ext cx="3291840" cy="3566160"/>
          </a:xfrm>
          <a:prstGeom prst="roundRect">
            <a:avLst>
              <a:gd name="adj" fmla="val 2222"/>
            </a:avLst>
          </a:prstGeom>
          <a:solidFill>
            <a:srgbClr val="E7F7F5"/>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6" name="Text 14"/>
          <p:cNvSpPr/>
          <p:nvPr/>
        </p:nvSpPr>
        <p:spPr>
          <a:xfrm>
            <a:off x="8321040" y="1755648"/>
            <a:ext cx="283464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Respaldo de entrega</a:t>
            </a:r>
            <a:endParaRPr lang="en-US" sz="1460" dirty="0"/>
          </a:p>
        </p:txBody>
      </p:sp>
      <p:sp>
        <p:nvSpPr>
          <p:cNvPr id="17" name="Text 15"/>
          <p:cNvSpPr/>
          <p:nvPr/>
        </p:nvSpPr>
        <p:spPr>
          <a:xfrm>
            <a:off x="8321040" y="2103120"/>
            <a:ext cx="2834640" cy="2852928"/>
          </a:xfrm>
          <a:prstGeom prst="rect">
            <a:avLst/>
          </a:prstGeom>
          <a:noFill/>
          <a:ln/>
        </p:spPr>
        <p:txBody>
          <a:bodyPr wrap="square" lIns="254" tIns="254" rIns="254" bIns="254"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Pruebas funcionales</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DOD</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Manual de usuario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Evidencias claras</a:t>
            </a:r>
            <a:endParaRPr lang="en-US" sz="1500" dirty="0"/>
          </a:p>
        </p:txBody>
      </p:sp>
      <p:sp>
        <p:nvSpPr>
          <p:cNvPr id="18" name="Shape 16"/>
          <p:cNvSpPr/>
          <p:nvPr/>
        </p:nvSpPr>
        <p:spPr>
          <a:xfrm>
            <a:off x="594360" y="5870448"/>
            <a:ext cx="10972800" cy="347472"/>
          </a:xfrm>
          <a:prstGeom prst="roundRect">
            <a:avLst>
              <a:gd name="adj" fmla="val 15789"/>
            </a:avLst>
          </a:prstGeom>
          <a:solidFill>
            <a:srgbClr val="EEF6FF"/>
          </a:solidFill>
          <a:ln w="12700">
            <a:solidFill>
              <a:srgbClr val="C7DFF7"/>
            </a:solidFill>
            <a:prstDash val="solid"/>
          </a:ln>
        </p:spPr>
      </p:sp>
      <p:sp>
        <p:nvSpPr>
          <p:cNvPr id="19" name="Text 17"/>
          <p:cNvSpPr/>
          <p:nvPr/>
        </p:nvSpPr>
        <p:spPr>
          <a:xfrm>
            <a:off x="777240" y="5971032"/>
            <a:ext cx="10607040" cy="100584"/>
          </a:xfrm>
          <a:prstGeom prst="rect">
            <a:avLst/>
          </a:prstGeom>
          <a:noFill/>
          <a:ln/>
        </p:spPr>
        <p:txBody>
          <a:bodyPr wrap="square" lIns="0" tIns="0" rIns="0" bIns="0" rtlCol="0" anchor="ctr"/>
          <a:lstStyle/>
          <a:p>
            <a:pPr indent="0" marL="0">
              <a:buNone/>
            </a:pPr>
            <a:r>
              <a:rPr lang="en-US" sz="870" dirty="0">
                <a:solidFill>
                  <a:srgbClr val="0B1F33"/>
                </a:solidFill>
                <a:latin typeface="Arial" pitchFamily="34" charset="0"/>
                <a:ea typeface="Arial" pitchFamily="34" charset="-122"/>
                <a:cs typeface="Arial" pitchFamily="34" charset="-120"/>
              </a:rPr>
              <a:t>Pablo: “Buscamos que el sistema no solo funcionara visualmente, sino que tuviera respaldo técnico.”</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BB3A3"/>
          </a:solidFill>
          <a:ln w="12700">
            <a:solidFill>
              <a:srgbClr val="2BB3A3"/>
            </a:solidFill>
            <a:prstDash val="solid"/>
          </a:ln>
        </p:spPr>
      </p:sp>
      <p:sp>
        <p:nvSpPr>
          <p:cNvPr id="3" name="Text 1"/>
          <p:cNvSpPr/>
          <p:nvPr/>
        </p:nvSpPr>
        <p:spPr>
          <a:xfrm>
            <a:off x="594360" y="493776"/>
            <a:ext cx="9784080" cy="411480"/>
          </a:xfrm>
          <a:prstGeom prst="rect">
            <a:avLst/>
          </a:prstGeom>
          <a:noFill/>
          <a:ln/>
        </p:spPr>
        <p:txBody>
          <a:bodyPr wrap="square" lIns="0" tIns="0" rIns="0" bIns="0" rtlCol="0" anchor="ctr"/>
          <a:lstStyle/>
          <a:p>
            <a:pPr indent="0" marL="0">
              <a:buNone/>
            </a:pPr>
            <a:r>
              <a:rPr lang="en-US" sz="2500" b="1" dirty="0">
                <a:solidFill>
                  <a:srgbClr val="0B1F33"/>
                </a:solidFill>
                <a:latin typeface="Arial" pitchFamily="34" charset="0"/>
                <a:ea typeface="Arial" pitchFamily="34" charset="-122"/>
                <a:cs typeface="Arial" pitchFamily="34" charset="-120"/>
              </a:rPr>
              <a:t>Estado inicial desde Semana 7</a:t>
            </a:r>
            <a:endParaRPr lang="en-US" sz="2500" dirty="0"/>
          </a:p>
        </p:txBody>
      </p:sp>
      <p:sp>
        <p:nvSpPr>
          <p:cNvPr id="4" name="Text 2"/>
          <p:cNvSpPr/>
          <p:nvPr/>
        </p:nvSpPr>
        <p:spPr>
          <a:xfrm>
            <a:off x="621792" y="960120"/>
            <a:ext cx="10424160" cy="228600"/>
          </a:xfrm>
          <a:prstGeom prst="rect">
            <a:avLst/>
          </a:prstGeom>
          <a:noFill/>
          <a:ln/>
        </p:spPr>
        <p:txBody>
          <a:bodyPr wrap="square" lIns="0" tIns="0" rIns="0" bIns="0" rtlCol="0" anchor="ctr"/>
          <a:lstStyle/>
          <a:p>
            <a:pPr indent="0" marL="0">
              <a:buNone/>
            </a:pPr>
            <a:r>
              <a:rPr lang="en-US" sz="1130" dirty="0">
                <a:solidFill>
                  <a:srgbClr val="637083"/>
                </a:solidFill>
                <a:latin typeface="Arial" pitchFamily="34" charset="0"/>
                <a:ea typeface="Arial" pitchFamily="34" charset="-122"/>
                <a:cs typeface="Arial" pitchFamily="34" charset="-120"/>
              </a:rPr>
              <a:t>Base funcional existente y brechas detectadas antes del release.</a:t>
            </a:r>
            <a:endParaRPr lang="en-US" sz="1130" dirty="0"/>
          </a:p>
        </p:txBody>
      </p:sp>
      <p:sp>
        <p:nvSpPr>
          <p:cNvPr id="5" name="Shape 3"/>
          <p:cNvSpPr/>
          <p:nvPr/>
        </p:nvSpPr>
        <p:spPr>
          <a:xfrm>
            <a:off x="0" y="6519672"/>
            <a:ext cx="12191695" cy="338328"/>
          </a:xfrm>
          <a:prstGeom prst="rect">
            <a:avLst/>
          </a:prstGeom>
          <a:solidFill>
            <a:srgbClr val="0B1F33"/>
          </a:solidFill>
          <a:ln w="12700">
            <a:solidFill>
              <a:srgbClr val="0B1F33"/>
            </a:solidFill>
            <a:prstDash val="solid"/>
          </a:ln>
        </p:spPr>
      </p:sp>
      <p:sp>
        <p:nvSpPr>
          <p:cNvPr id="6" name="Text 4"/>
          <p:cNvSpPr/>
          <p:nvPr/>
        </p:nvSpPr>
        <p:spPr>
          <a:xfrm>
            <a:off x="420624" y="6611112"/>
            <a:ext cx="5852160" cy="118872"/>
          </a:xfrm>
          <a:prstGeom prst="rect">
            <a:avLst/>
          </a:prstGeom>
          <a:noFill/>
          <a:ln/>
        </p:spPr>
        <p:txBody>
          <a:bodyPr wrap="square" lIns="0" tIns="0" rIns="0" bIns="0" rtlCol="0" anchor="ctr"/>
          <a:lstStyle/>
          <a:p>
            <a:pPr indent="0" marL="0">
              <a:buNone/>
            </a:pPr>
            <a:r>
              <a:rPr lang="en-US" sz="760" dirty="0">
                <a:solidFill>
                  <a:srgbClr val="FFFFFF"/>
                </a:solidFill>
                <a:latin typeface="Arial" pitchFamily="34" charset="0"/>
                <a:ea typeface="Arial" pitchFamily="34" charset="-122"/>
                <a:cs typeface="Arial" pitchFamily="34" charset="-120"/>
              </a:rPr>
              <a:t>PRY3211 · Ingeniería de Software · Hotel Pacific Reef</a:t>
            </a:r>
            <a:endParaRPr lang="en-US" sz="760" dirty="0"/>
          </a:p>
        </p:txBody>
      </p:sp>
      <p:sp>
        <p:nvSpPr>
          <p:cNvPr id="7" name="Text 5"/>
          <p:cNvSpPr/>
          <p:nvPr/>
        </p:nvSpPr>
        <p:spPr>
          <a:xfrm>
            <a:off x="6858000" y="6611112"/>
            <a:ext cx="3429000" cy="118872"/>
          </a:xfrm>
          <a:prstGeom prst="rect">
            <a:avLst/>
          </a:prstGeom>
          <a:noFill/>
          <a:ln/>
        </p:spPr>
        <p:txBody>
          <a:bodyPr wrap="square" lIns="0" tIns="0" rIns="0" bIns="0" rtlCol="0" anchor="ctr"/>
          <a:lstStyle/>
          <a:p>
            <a:pPr algn="r" indent="0" marL="0">
              <a:buNone/>
            </a:pPr>
            <a:r>
              <a:rPr lang="en-US" sz="760" dirty="0">
                <a:solidFill>
                  <a:srgbClr val="FFFFFF"/>
                </a:solidFill>
                <a:latin typeface="Arial" pitchFamily="34" charset="0"/>
                <a:ea typeface="Arial" pitchFamily="34" charset="-122"/>
                <a:cs typeface="Arial" pitchFamily="34" charset="-120"/>
              </a:rPr>
              <a:t>Habla: Jesús Vera</a:t>
            </a:r>
            <a:endParaRPr lang="en-US" sz="760" dirty="0"/>
          </a:p>
        </p:txBody>
      </p:sp>
      <p:sp>
        <p:nvSpPr>
          <p:cNvPr id="8" name="Text 6"/>
          <p:cNvSpPr/>
          <p:nvPr/>
        </p:nvSpPr>
        <p:spPr>
          <a:xfrm>
            <a:off x="11064240" y="6556248"/>
            <a:ext cx="685800" cy="1920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03</a:t>
            </a:r>
            <a:endParaRPr lang="en-US" sz="950" dirty="0"/>
          </a:p>
        </p:txBody>
      </p:sp>
      <p:sp>
        <p:nvSpPr>
          <p:cNvPr id="9" name="Shape 7"/>
          <p:cNvSpPr/>
          <p:nvPr/>
        </p:nvSpPr>
        <p:spPr>
          <a:xfrm>
            <a:off x="685800" y="1508760"/>
            <a:ext cx="5166360" cy="4160520"/>
          </a:xfrm>
          <a:prstGeom prst="roundRect">
            <a:avLst>
              <a:gd name="adj" fmla="val 1758"/>
            </a:avLst>
          </a:prstGeom>
          <a:solidFill>
            <a:srgbClr val="FFFFFF"/>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0" name="Text 8"/>
          <p:cNvSpPr/>
          <p:nvPr/>
        </p:nvSpPr>
        <p:spPr>
          <a:xfrm>
            <a:off x="914400" y="1691640"/>
            <a:ext cx="470916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Base funcional heredada</a:t>
            </a:r>
            <a:endParaRPr lang="en-US" sz="1460" dirty="0"/>
          </a:p>
        </p:txBody>
      </p:sp>
      <p:sp>
        <p:nvSpPr>
          <p:cNvPr id="11" name="Text 9"/>
          <p:cNvSpPr/>
          <p:nvPr/>
        </p:nvSpPr>
        <p:spPr>
          <a:xfrm>
            <a:off x="914400" y="2039112"/>
            <a:ext cx="4709160" cy="3447288"/>
          </a:xfrm>
          <a:prstGeom prst="rect">
            <a:avLst/>
          </a:prstGeom>
          <a:noFill/>
          <a:ln/>
        </p:spPr>
        <p:txBody>
          <a:bodyPr wrap="square" lIns="254" tIns="254" rIns="254" bIns="254"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 Aplicación Flask conectada a SQLite</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Página principal</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Consulta de disponibilidad</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Registro básico de reserva</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Confirmación</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Panel administrador inicial</a:t>
            </a:r>
            <a:endParaRPr lang="en-US" sz="1500" dirty="0"/>
          </a:p>
        </p:txBody>
      </p:sp>
      <p:sp>
        <p:nvSpPr>
          <p:cNvPr id="12" name="Shape 10"/>
          <p:cNvSpPr/>
          <p:nvPr/>
        </p:nvSpPr>
        <p:spPr>
          <a:xfrm>
            <a:off x="6355080" y="1508760"/>
            <a:ext cx="5166360" cy="4160520"/>
          </a:xfrm>
          <a:prstGeom prst="roundRect">
            <a:avLst>
              <a:gd name="adj" fmla="val 1758"/>
            </a:avLst>
          </a:prstGeom>
          <a:solidFill>
            <a:srgbClr val="FFF7ED"/>
          </a:solidFill>
          <a:ln w="12700">
            <a:solidFill>
              <a:srgbClr val="FED7AA">
                <a:alpha val="88000"/>
              </a:srgbClr>
            </a:solidFill>
            <a:prstDash val="solid"/>
          </a:ln>
          <a:effectLst>
            <a:outerShdw sx="100000" sy="100000" kx="0" ky="0" algn="bl" rotWithShape="0" blurRad="12700" dist="50800" dir="2700000">
              <a:srgbClr val="9CA3AF">
                <a:alpha val="12000"/>
              </a:srgbClr>
            </a:outerShdw>
          </a:effectLst>
        </p:spPr>
      </p:sp>
      <p:sp>
        <p:nvSpPr>
          <p:cNvPr id="13" name="Text 11"/>
          <p:cNvSpPr/>
          <p:nvPr/>
        </p:nvSpPr>
        <p:spPr>
          <a:xfrm>
            <a:off x="6583680" y="1691640"/>
            <a:ext cx="4709160" cy="219456"/>
          </a:xfrm>
          <a:prstGeom prst="rect">
            <a:avLst/>
          </a:prstGeom>
          <a:noFill/>
          <a:ln/>
        </p:spPr>
        <p:txBody>
          <a:bodyPr wrap="square" lIns="0" tIns="0" rIns="0" bIns="0" rtlCol="0" anchor="ctr"/>
          <a:lstStyle/>
          <a:p>
            <a:pPr indent="0" marL="0">
              <a:buNone/>
            </a:pPr>
            <a:r>
              <a:rPr lang="en-US" sz="1460" b="1" dirty="0">
                <a:solidFill>
                  <a:srgbClr val="9A3412"/>
                </a:solidFill>
                <a:latin typeface="Arial" pitchFamily="34" charset="0"/>
                <a:ea typeface="Arial" pitchFamily="34" charset="-122"/>
                <a:cs typeface="Arial" pitchFamily="34" charset="-120"/>
              </a:rPr>
              <a:t>Brechas detectadas</a:t>
            </a:r>
            <a:endParaRPr lang="en-US" sz="1460" dirty="0"/>
          </a:p>
        </p:txBody>
      </p:sp>
      <p:sp>
        <p:nvSpPr>
          <p:cNvPr id="14" name="Text 12"/>
          <p:cNvSpPr/>
          <p:nvPr/>
        </p:nvSpPr>
        <p:spPr>
          <a:xfrm>
            <a:off x="6583680" y="2039112"/>
            <a:ext cx="4709160" cy="3447288"/>
          </a:xfrm>
          <a:prstGeom prst="rect">
            <a:avLst/>
          </a:prstGeom>
          <a:noFill/>
          <a:ln/>
        </p:spPr>
        <p:txBody>
          <a:bodyPr wrap="square" lIns="254" tIns="254" rIns="254" bIns="254"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 Reserva asociada a cliente fijo de prueba</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Sin servicio externo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Sin endpoints JSON propios</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Pruebas y DOD no actualizados para Semana 8</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BB3A3"/>
          </a:solidFill>
          <a:ln w="12700">
            <a:solidFill>
              <a:srgbClr val="2BB3A3"/>
            </a:solidFill>
            <a:prstDash val="solid"/>
          </a:ln>
        </p:spPr>
      </p:sp>
      <p:sp>
        <p:nvSpPr>
          <p:cNvPr id="3" name="Text 1"/>
          <p:cNvSpPr/>
          <p:nvPr/>
        </p:nvSpPr>
        <p:spPr>
          <a:xfrm>
            <a:off x="594360" y="493776"/>
            <a:ext cx="9784080" cy="411480"/>
          </a:xfrm>
          <a:prstGeom prst="rect">
            <a:avLst/>
          </a:prstGeom>
          <a:noFill/>
          <a:ln/>
        </p:spPr>
        <p:txBody>
          <a:bodyPr wrap="square" lIns="0" tIns="0" rIns="0" bIns="0" rtlCol="0" anchor="ctr"/>
          <a:lstStyle/>
          <a:p>
            <a:pPr indent="0" marL="0">
              <a:buNone/>
            </a:pPr>
            <a:r>
              <a:rPr lang="en-US" sz="2500" b="1" dirty="0">
                <a:solidFill>
                  <a:srgbClr val="0B1F33"/>
                </a:solidFill>
                <a:latin typeface="Arial" pitchFamily="34" charset="0"/>
                <a:ea typeface="Arial" pitchFamily="34" charset="-122"/>
                <a:cs typeface="Arial" pitchFamily="34" charset="-120"/>
              </a:rPr>
              <a:t>Mejora del flujo de reserva</a:t>
            </a:r>
            <a:endParaRPr lang="en-US" sz="2500" dirty="0"/>
          </a:p>
        </p:txBody>
      </p:sp>
      <p:sp>
        <p:nvSpPr>
          <p:cNvPr id="4" name="Text 2"/>
          <p:cNvSpPr/>
          <p:nvPr/>
        </p:nvSpPr>
        <p:spPr>
          <a:xfrm>
            <a:off x="621792" y="960120"/>
            <a:ext cx="10424160" cy="228600"/>
          </a:xfrm>
          <a:prstGeom prst="rect">
            <a:avLst/>
          </a:prstGeom>
          <a:noFill/>
          <a:ln/>
        </p:spPr>
        <p:txBody>
          <a:bodyPr wrap="square" lIns="0" tIns="0" rIns="0" bIns="0" rtlCol="0" anchor="ctr"/>
          <a:lstStyle/>
          <a:p>
            <a:pPr indent="0" marL="0">
              <a:buNone/>
            </a:pPr>
            <a:r>
              <a:rPr lang="en-US" sz="1130" dirty="0">
                <a:solidFill>
                  <a:srgbClr val="637083"/>
                </a:solidFill>
                <a:latin typeface="Arial" pitchFamily="34" charset="0"/>
                <a:ea typeface="Arial" pitchFamily="34" charset="-122"/>
                <a:cs typeface="Arial" pitchFamily="34" charset="-120"/>
              </a:rPr>
              <a:t>La reserva pasa de cliente fijo a cliente real creado o reutilizado.</a:t>
            </a:r>
            <a:endParaRPr lang="en-US" sz="1130" dirty="0"/>
          </a:p>
        </p:txBody>
      </p:sp>
      <p:sp>
        <p:nvSpPr>
          <p:cNvPr id="5" name="Shape 3"/>
          <p:cNvSpPr/>
          <p:nvPr/>
        </p:nvSpPr>
        <p:spPr>
          <a:xfrm>
            <a:off x="0" y="6519672"/>
            <a:ext cx="12191695" cy="338328"/>
          </a:xfrm>
          <a:prstGeom prst="rect">
            <a:avLst/>
          </a:prstGeom>
          <a:solidFill>
            <a:srgbClr val="0B1F33"/>
          </a:solidFill>
          <a:ln w="12700">
            <a:solidFill>
              <a:srgbClr val="0B1F33"/>
            </a:solidFill>
            <a:prstDash val="solid"/>
          </a:ln>
        </p:spPr>
      </p:sp>
      <p:sp>
        <p:nvSpPr>
          <p:cNvPr id="6" name="Text 4"/>
          <p:cNvSpPr/>
          <p:nvPr/>
        </p:nvSpPr>
        <p:spPr>
          <a:xfrm>
            <a:off x="420624" y="6611112"/>
            <a:ext cx="5852160" cy="118872"/>
          </a:xfrm>
          <a:prstGeom prst="rect">
            <a:avLst/>
          </a:prstGeom>
          <a:noFill/>
          <a:ln/>
        </p:spPr>
        <p:txBody>
          <a:bodyPr wrap="square" lIns="0" tIns="0" rIns="0" bIns="0" rtlCol="0" anchor="ctr"/>
          <a:lstStyle/>
          <a:p>
            <a:pPr indent="0" marL="0">
              <a:buNone/>
            </a:pPr>
            <a:r>
              <a:rPr lang="en-US" sz="760" dirty="0">
                <a:solidFill>
                  <a:srgbClr val="FFFFFF"/>
                </a:solidFill>
                <a:latin typeface="Arial" pitchFamily="34" charset="0"/>
                <a:ea typeface="Arial" pitchFamily="34" charset="-122"/>
                <a:cs typeface="Arial" pitchFamily="34" charset="-120"/>
              </a:rPr>
              <a:t>PRY3211 · Ingeniería de Software · Hotel Pacific Reef</a:t>
            </a:r>
            <a:endParaRPr lang="en-US" sz="760" dirty="0"/>
          </a:p>
        </p:txBody>
      </p:sp>
      <p:sp>
        <p:nvSpPr>
          <p:cNvPr id="7" name="Text 5"/>
          <p:cNvSpPr/>
          <p:nvPr/>
        </p:nvSpPr>
        <p:spPr>
          <a:xfrm>
            <a:off x="6858000" y="6611112"/>
            <a:ext cx="3429000" cy="118872"/>
          </a:xfrm>
          <a:prstGeom prst="rect">
            <a:avLst/>
          </a:prstGeom>
          <a:noFill/>
          <a:ln/>
        </p:spPr>
        <p:txBody>
          <a:bodyPr wrap="square" lIns="0" tIns="0" rIns="0" bIns="0" rtlCol="0" anchor="ctr"/>
          <a:lstStyle/>
          <a:p>
            <a:pPr algn="r" indent="0" marL="0">
              <a:buNone/>
            </a:pPr>
            <a:r>
              <a:rPr lang="en-US" sz="760" dirty="0">
                <a:solidFill>
                  <a:srgbClr val="FFFFFF"/>
                </a:solidFill>
                <a:latin typeface="Arial" pitchFamily="34" charset="0"/>
                <a:ea typeface="Arial" pitchFamily="34" charset="-122"/>
                <a:cs typeface="Arial" pitchFamily="34" charset="-120"/>
              </a:rPr>
              <a:t>Habla: Jesús Vera</a:t>
            </a:r>
            <a:endParaRPr lang="en-US" sz="760" dirty="0"/>
          </a:p>
        </p:txBody>
      </p:sp>
      <p:sp>
        <p:nvSpPr>
          <p:cNvPr id="8" name="Text 6"/>
          <p:cNvSpPr/>
          <p:nvPr/>
        </p:nvSpPr>
        <p:spPr>
          <a:xfrm>
            <a:off x="11064240" y="6556248"/>
            <a:ext cx="685800" cy="1920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04</a:t>
            </a:r>
            <a:endParaRPr lang="en-US" sz="950" dirty="0"/>
          </a:p>
        </p:txBody>
      </p:sp>
      <p:sp>
        <p:nvSpPr>
          <p:cNvPr id="9" name="Shape 7"/>
          <p:cNvSpPr/>
          <p:nvPr/>
        </p:nvSpPr>
        <p:spPr>
          <a:xfrm>
            <a:off x="685800" y="1417320"/>
            <a:ext cx="2971800" cy="4343400"/>
          </a:xfrm>
          <a:prstGeom prst="roundRect">
            <a:avLst>
              <a:gd name="adj" fmla="val 2462"/>
            </a:avLst>
          </a:prstGeom>
          <a:solidFill>
            <a:srgbClr val="FEF2F2"/>
          </a:solidFill>
          <a:ln w="12700">
            <a:solidFill>
              <a:srgbClr val="FECACA">
                <a:alpha val="88000"/>
              </a:srgbClr>
            </a:solidFill>
            <a:prstDash val="solid"/>
          </a:ln>
          <a:effectLst>
            <a:outerShdw sx="100000" sy="100000" kx="0" ky="0" algn="bl" rotWithShape="0" blurRad="12700" dist="50800" dir="2700000">
              <a:srgbClr val="9CA3AF">
                <a:alpha val="12000"/>
              </a:srgbClr>
            </a:outerShdw>
          </a:effectLst>
        </p:spPr>
      </p:sp>
      <p:sp>
        <p:nvSpPr>
          <p:cNvPr id="10" name="Text 8"/>
          <p:cNvSpPr/>
          <p:nvPr/>
        </p:nvSpPr>
        <p:spPr>
          <a:xfrm>
            <a:off x="914400" y="1600200"/>
            <a:ext cx="2514600" cy="219456"/>
          </a:xfrm>
          <a:prstGeom prst="rect">
            <a:avLst/>
          </a:prstGeom>
          <a:noFill/>
          <a:ln/>
        </p:spPr>
        <p:txBody>
          <a:bodyPr wrap="square" lIns="0" tIns="0" rIns="0" bIns="0" rtlCol="0" anchor="ctr"/>
          <a:lstStyle/>
          <a:p>
            <a:pPr indent="0" marL="0">
              <a:buNone/>
            </a:pPr>
            <a:r>
              <a:rPr lang="en-US" sz="1460" b="1" dirty="0">
                <a:solidFill>
                  <a:srgbClr val="B91C1C"/>
                </a:solidFill>
                <a:latin typeface="Arial" pitchFamily="34" charset="0"/>
                <a:ea typeface="Arial" pitchFamily="34" charset="-122"/>
                <a:cs typeface="Arial" pitchFamily="34" charset="-120"/>
              </a:rPr>
              <a:t>Antes</a:t>
            </a:r>
            <a:endParaRPr lang="en-US" sz="1460" dirty="0"/>
          </a:p>
        </p:txBody>
      </p:sp>
      <p:sp>
        <p:nvSpPr>
          <p:cNvPr id="11" name="Text 9"/>
          <p:cNvSpPr/>
          <p:nvPr/>
        </p:nvSpPr>
        <p:spPr>
          <a:xfrm>
            <a:off x="914400" y="1947672"/>
            <a:ext cx="2514600" cy="3630168"/>
          </a:xfrm>
          <a:prstGeom prst="rect">
            <a:avLst/>
          </a:prstGeom>
          <a:noFill/>
          <a:ln/>
        </p:spPr>
        <p:txBody>
          <a:bodyPr wrap="square" lIns="254" tIns="254" rIns="254" bIns="254" rtlCol="0" anchor="t">
            <a:normAutofit/>
          </a:bodyPr>
          <a:lstStyle/>
          <a:p>
            <a:pPr indent="0" marL="0">
              <a:buNone/>
            </a:pPr>
            <a:r>
              <a:rPr lang="en-US" sz="1480" dirty="0">
                <a:solidFill>
                  <a:srgbClr val="1F2937"/>
                </a:solidFill>
                <a:latin typeface="Arial" pitchFamily="34" charset="0"/>
                <a:ea typeface="Arial" pitchFamily="34" charset="-122"/>
                <a:cs typeface="Arial" pitchFamily="34" charset="-120"/>
              </a:rPr>
              <a:t>La reserva se asociaba siempre a un cliente fijo de prueba.</a:t>
            </a:r>
            <a:endParaRPr lang="en-US" sz="1480" dirty="0"/>
          </a:p>
          <a:p>
            <a:pPr indent="0" marL="0">
              <a:buNone/>
            </a:pPr>
            <a:endParaRPr lang="en-US" sz="1480" dirty="0"/>
          </a:p>
          <a:p>
            <a:pPr indent="0" marL="0">
              <a:buNone/>
            </a:pPr>
            <a:r>
              <a:rPr lang="en-US" sz="1480" dirty="0">
                <a:solidFill>
                  <a:srgbClr val="1F2937"/>
                </a:solidFill>
                <a:latin typeface="Arial" pitchFamily="34" charset="0"/>
                <a:ea typeface="Arial" pitchFamily="34" charset="-122"/>
                <a:cs typeface="Arial" pitchFamily="34" charset="-120"/>
              </a:rPr>
              <a:t>Funcionaba para demostrar el flujo básico, pero no representaba un proceso real.</a:t>
            </a:r>
            <a:endParaRPr lang="en-US" sz="1480" dirty="0"/>
          </a:p>
        </p:txBody>
      </p:sp>
      <p:sp>
        <p:nvSpPr>
          <p:cNvPr id="12" name="Shape 10"/>
          <p:cNvSpPr/>
          <p:nvPr/>
        </p:nvSpPr>
        <p:spPr>
          <a:xfrm>
            <a:off x="3977640" y="2980944"/>
            <a:ext cx="1051560" cy="621792"/>
          </a:xfrm>
          <a:prstGeom prst="rightArrow">
            <a:avLst/>
          </a:prstGeom>
          <a:solidFill>
            <a:srgbClr val="2BB3A3"/>
          </a:solidFill>
          <a:ln w="12700">
            <a:solidFill>
              <a:srgbClr val="2BB3A3"/>
            </a:solidFill>
            <a:prstDash val="solid"/>
          </a:ln>
        </p:spPr>
      </p:sp>
      <p:sp>
        <p:nvSpPr>
          <p:cNvPr id="13" name="Shape 11"/>
          <p:cNvSpPr/>
          <p:nvPr/>
        </p:nvSpPr>
        <p:spPr>
          <a:xfrm>
            <a:off x="5349240" y="1417320"/>
            <a:ext cx="6172200" cy="4343400"/>
          </a:xfrm>
          <a:prstGeom prst="roundRect">
            <a:avLst>
              <a:gd name="adj" fmla="val 1684"/>
            </a:avLst>
          </a:prstGeom>
          <a:solidFill>
            <a:srgbClr val="E7F7F5"/>
          </a:solidFill>
          <a:ln w="12700">
            <a:solidFill>
              <a:srgbClr val="A7F3D0">
                <a:alpha val="88000"/>
              </a:srgbClr>
            </a:solidFill>
            <a:prstDash val="solid"/>
          </a:ln>
          <a:effectLst>
            <a:outerShdw sx="100000" sy="100000" kx="0" ky="0" algn="bl" rotWithShape="0" blurRad="12700" dist="50800" dir="2700000">
              <a:srgbClr val="9CA3AF">
                <a:alpha val="12000"/>
              </a:srgbClr>
            </a:outerShdw>
          </a:effectLst>
        </p:spPr>
      </p:sp>
      <p:sp>
        <p:nvSpPr>
          <p:cNvPr id="14" name="Text 12"/>
          <p:cNvSpPr/>
          <p:nvPr/>
        </p:nvSpPr>
        <p:spPr>
          <a:xfrm>
            <a:off x="5577840" y="1600200"/>
            <a:ext cx="5715000" cy="219456"/>
          </a:xfrm>
          <a:prstGeom prst="rect">
            <a:avLst/>
          </a:prstGeom>
          <a:noFill/>
          <a:ln/>
        </p:spPr>
        <p:txBody>
          <a:bodyPr wrap="square" lIns="0" tIns="0" rIns="0" bIns="0" rtlCol="0" anchor="ctr"/>
          <a:lstStyle/>
          <a:p>
            <a:pPr indent="0" marL="0">
              <a:buNone/>
            </a:pPr>
            <a:r>
              <a:rPr lang="en-US" sz="1460" b="1" dirty="0">
                <a:solidFill>
                  <a:srgbClr val="0F766E"/>
                </a:solidFill>
                <a:latin typeface="Arial" pitchFamily="34" charset="0"/>
                <a:ea typeface="Arial" pitchFamily="34" charset="-122"/>
                <a:cs typeface="Arial" pitchFamily="34" charset="-120"/>
              </a:rPr>
              <a:t>Ahora</a:t>
            </a:r>
            <a:endParaRPr lang="en-US" sz="1460" dirty="0"/>
          </a:p>
        </p:txBody>
      </p:sp>
      <p:sp>
        <p:nvSpPr>
          <p:cNvPr id="15" name="Text 13"/>
          <p:cNvSpPr/>
          <p:nvPr/>
        </p:nvSpPr>
        <p:spPr>
          <a:xfrm>
            <a:off x="5577840" y="1947672"/>
            <a:ext cx="5715000" cy="3630168"/>
          </a:xfrm>
          <a:prstGeom prst="rect">
            <a:avLst/>
          </a:prstGeom>
          <a:noFill/>
          <a:ln/>
        </p:spPr>
        <p:txBody>
          <a:bodyPr wrap="square" lIns="254" tIns="254" rIns="254" bIns="254" rtlCol="0" anchor="t">
            <a:normAutofit/>
          </a:bodyPr>
          <a:lstStyle/>
          <a:p>
            <a:pPr indent="0" marL="0">
              <a:buNone/>
            </a:pPr>
            <a:r>
              <a:rPr lang="en-US" sz="1440" dirty="0">
                <a:solidFill>
                  <a:srgbClr val="1F2937"/>
                </a:solidFill>
                <a:latin typeface="Arial" pitchFamily="34" charset="0"/>
                <a:ea typeface="Arial" pitchFamily="34" charset="-122"/>
                <a:cs typeface="Arial" pitchFamily="34" charset="-120"/>
              </a:rPr>
              <a:t>1. Recibe nombre, correo y teléfono.</a:t>
            </a:r>
            <a:endParaRPr lang="en-US" sz="1440" dirty="0"/>
          </a:p>
          <a:p>
            <a:pPr indent="0" marL="0">
              <a:buNone/>
            </a:pPr>
            <a:r>
              <a:rPr lang="en-US" sz="1440" dirty="0">
                <a:solidFill>
                  <a:srgbClr val="1F2937"/>
                </a:solidFill>
                <a:latin typeface="Arial" pitchFamily="34" charset="0"/>
                <a:ea typeface="Arial" pitchFamily="34" charset="-122"/>
                <a:cs typeface="Arial" pitchFamily="34" charset="-120"/>
              </a:rPr>
              <a:t>2. Busca usuario por correo.</a:t>
            </a:r>
            <a:endParaRPr lang="en-US" sz="1440" dirty="0"/>
          </a:p>
          <a:p>
            <a:pPr indent="0" marL="0">
              <a:buNone/>
            </a:pPr>
            <a:r>
              <a:rPr lang="en-US" sz="1440" dirty="0">
                <a:solidFill>
                  <a:srgbClr val="1F2937"/>
                </a:solidFill>
                <a:latin typeface="Arial" pitchFamily="34" charset="0"/>
                <a:ea typeface="Arial" pitchFamily="34" charset="-122"/>
                <a:cs typeface="Arial" pitchFamily="34" charset="-120"/>
              </a:rPr>
              <a:t>3. Si existe, reutiliza cliente asociado.</a:t>
            </a:r>
            <a:endParaRPr lang="en-US" sz="1440" dirty="0"/>
          </a:p>
          <a:p>
            <a:pPr indent="0" marL="0">
              <a:buNone/>
            </a:pPr>
            <a:r>
              <a:rPr lang="en-US" sz="1440" dirty="0">
                <a:solidFill>
                  <a:srgbClr val="1F2937"/>
                </a:solidFill>
                <a:latin typeface="Arial" pitchFamily="34" charset="0"/>
                <a:ea typeface="Arial" pitchFamily="34" charset="-122"/>
                <a:cs typeface="Arial" pitchFamily="34" charset="-120"/>
              </a:rPr>
              <a:t>4. Si no existe, crea usuario cliente.</a:t>
            </a:r>
            <a:endParaRPr lang="en-US" sz="1440" dirty="0"/>
          </a:p>
          <a:p>
            <a:pPr indent="0" marL="0">
              <a:buNone/>
            </a:pPr>
            <a:r>
              <a:rPr lang="en-US" sz="1440" dirty="0">
                <a:solidFill>
                  <a:srgbClr val="1F2937"/>
                </a:solidFill>
                <a:latin typeface="Arial" pitchFamily="34" charset="0"/>
                <a:ea typeface="Arial" pitchFamily="34" charset="-122"/>
                <a:cs typeface="Arial" pitchFamily="34" charset="-120"/>
              </a:rPr>
              <a:t>5. Crea o reutiliza registro en tabla cliente.</a:t>
            </a:r>
            <a:endParaRPr lang="en-US" sz="1440" dirty="0"/>
          </a:p>
          <a:p>
            <a:pPr indent="0" marL="0">
              <a:buNone/>
            </a:pPr>
            <a:r>
              <a:rPr lang="en-US" sz="1440" dirty="0">
                <a:solidFill>
                  <a:srgbClr val="1F2937"/>
                </a:solidFill>
                <a:latin typeface="Arial" pitchFamily="34" charset="0"/>
                <a:ea typeface="Arial" pitchFamily="34" charset="-122"/>
                <a:cs typeface="Arial" pitchFamily="34" charset="-120"/>
              </a:rPr>
              <a:t>6. Registra reserva con id_cliente real.</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BB3A3"/>
          </a:solidFill>
          <a:ln w="12700">
            <a:solidFill>
              <a:srgbClr val="2BB3A3"/>
            </a:solidFill>
            <a:prstDash val="solid"/>
          </a:ln>
        </p:spPr>
      </p:sp>
      <p:sp>
        <p:nvSpPr>
          <p:cNvPr id="3" name="Text 1"/>
          <p:cNvSpPr/>
          <p:nvPr/>
        </p:nvSpPr>
        <p:spPr>
          <a:xfrm>
            <a:off x="594360" y="493776"/>
            <a:ext cx="9784080" cy="411480"/>
          </a:xfrm>
          <a:prstGeom prst="rect">
            <a:avLst/>
          </a:prstGeom>
          <a:noFill/>
          <a:ln/>
        </p:spPr>
        <p:txBody>
          <a:bodyPr wrap="square" lIns="0" tIns="0" rIns="0" bIns="0" rtlCol="0" anchor="ctr"/>
          <a:lstStyle/>
          <a:p>
            <a:pPr indent="0" marL="0">
              <a:buNone/>
            </a:pPr>
            <a:r>
              <a:rPr lang="en-US" sz="2500" b="1" dirty="0">
                <a:solidFill>
                  <a:srgbClr val="0B1F33"/>
                </a:solidFill>
                <a:latin typeface="Arial" pitchFamily="34" charset="0"/>
                <a:ea typeface="Arial" pitchFamily="34" charset="-122"/>
                <a:cs typeface="Arial" pitchFamily="34" charset="-120"/>
              </a:rPr>
              <a:t>Confirmación y panel administrador</a:t>
            </a:r>
            <a:endParaRPr lang="en-US" sz="2500" dirty="0"/>
          </a:p>
        </p:txBody>
      </p:sp>
      <p:sp>
        <p:nvSpPr>
          <p:cNvPr id="4" name="Text 2"/>
          <p:cNvSpPr/>
          <p:nvPr/>
        </p:nvSpPr>
        <p:spPr>
          <a:xfrm>
            <a:off x="621792" y="960120"/>
            <a:ext cx="10424160" cy="228600"/>
          </a:xfrm>
          <a:prstGeom prst="rect">
            <a:avLst/>
          </a:prstGeom>
          <a:noFill/>
          <a:ln/>
        </p:spPr>
        <p:txBody>
          <a:bodyPr wrap="square" lIns="0" tIns="0" rIns="0" bIns="0" rtlCol="0" anchor="ctr"/>
          <a:lstStyle/>
          <a:p>
            <a:pPr indent="0" marL="0">
              <a:buNone/>
            </a:pPr>
            <a:r>
              <a:rPr lang="en-US" sz="1130" dirty="0">
                <a:solidFill>
                  <a:srgbClr val="637083"/>
                </a:solidFill>
                <a:latin typeface="Arial" pitchFamily="34" charset="0"/>
                <a:ea typeface="Arial" pitchFamily="34" charset="-122"/>
                <a:cs typeface="Arial" pitchFamily="34" charset="-120"/>
              </a:rPr>
              <a:t>La relación reserva-cliente queda visible en la interfaz.</a:t>
            </a:r>
            <a:endParaRPr lang="en-US" sz="1130" dirty="0"/>
          </a:p>
        </p:txBody>
      </p:sp>
      <p:sp>
        <p:nvSpPr>
          <p:cNvPr id="5" name="Shape 3"/>
          <p:cNvSpPr/>
          <p:nvPr/>
        </p:nvSpPr>
        <p:spPr>
          <a:xfrm>
            <a:off x="0" y="6519672"/>
            <a:ext cx="12191695" cy="338328"/>
          </a:xfrm>
          <a:prstGeom prst="rect">
            <a:avLst/>
          </a:prstGeom>
          <a:solidFill>
            <a:srgbClr val="0B1F33"/>
          </a:solidFill>
          <a:ln w="12700">
            <a:solidFill>
              <a:srgbClr val="0B1F33"/>
            </a:solidFill>
            <a:prstDash val="solid"/>
          </a:ln>
        </p:spPr>
      </p:sp>
      <p:sp>
        <p:nvSpPr>
          <p:cNvPr id="6" name="Text 4"/>
          <p:cNvSpPr/>
          <p:nvPr/>
        </p:nvSpPr>
        <p:spPr>
          <a:xfrm>
            <a:off x="420624" y="6611112"/>
            <a:ext cx="5852160" cy="118872"/>
          </a:xfrm>
          <a:prstGeom prst="rect">
            <a:avLst/>
          </a:prstGeom>
          <a:noFill/>
          <a:ln/>
        </p:spPr>
        <p:txBody>
          <a:bodyPr wrap="square" lIns="0" tIns="0" rIns="0" bIns="0" rtlCol="0" anchor="ctr"/>
          <a:lstStyle/>
          <a:p>
            <a:pPr indent="0" marL="0">
              <a:buNone/>
            </a:pPr>
            <a:r>
              <a:rPr lang="en-US" sz="760" dirty="0">
                <a:solidFill>
                  <a:srgbClr val="FFFFFF"/>
                </a:solidFill>
                <a:latin typeface="Arial" pitchFamily="34" charset="0"/>
                <a:ea typeface="Arial" pitchFamily="34" charset="-122"/>
                <a:cs typeface="Arial" pitchFamily="34" charset="-120"/>
              </a:rPr>
              <a:t>PRY3211 · Ingeniería de Software · Hotel Pacific Reef</a:t>
            </a:r>
            <a:endParaRPr lang="en-US" sz="760" dirty="0"/>
          </a:p>
        </p:txBody>
      </p:sp>
      <p:sp>
        <p:nvSpPr>
          <p:cNvPr id="7" name="Text 5"/>
          <p:cNvSpPr/>
          <p:nvPr/>
        </p:nvSpPr>
        <p:spPr>
          <a:xfrm>
            <a:off x="6858000" y="6611112"/>
            <a:ext cx="3429000" cy="118872"/>
          </a:xfrm>
          <a:prstGeom prst="rect">
            <a:avLst/>
          </a:prstGeom>
          <a:noFill/>
          <a:ln/>
        </p:spPr>
        <p:txBody>
          <a:bodyPr wrap="square" lIns="0" tIns="0" rIns="0" bIns="0" rtlCol="0" anchor="ctr"/>
          <a:lstStyle/>
          <a:p>
            <a:pPr algn="r" indent="0" marL="0">
              <a:buNone/>
            </a:pPr>
            <a:r>
              <a:rPr lang="en-US" sz="760" dirty="0">
                <a:solidFill>
                  <a:srgbClr val="FFFFFF"/>
                </a:solidFill>
                <a:latin typeface="Arial" pitchFamily="34" charset="0"/>
                <a:ea typeface="Arial" pitchFamily="34" charset="-122"/>
                <a:cs typeface="Arial" pitchFamily="34" charset="-120"/>
              </a:rPr>
              <a:t>Habla: Jesús Vera</a:t>
            </a:r>
            <a:endParaRPr lang="en-US" sz="760" dirty="0"/>
          </a:p>
        </p:txBody>
      </p:sp>
      <p:sp>
        <p:nvSpPr>
          <p:cNvPr id="8" name="Text 6"/>
          <p:cNvSpPr/>
          <p:nvPr/>
        </p:nvSpPr>
        <p:spPr>
          <a:xfrm>
            <a:off x="11064240" y="6556248"/>
            <a:ext cx="685800" cy="1920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05</a:t>
            </a:r>
            <a:endParaRPr lang="en-US" sz="950" dirty="0"/>
          </a:p>
        </p:txBody>
      </p:sp>
      <p:sp>
        <p:nvSpPr>
          <p:cNvPr id="9" name="Shape 7"/>
          <p:cNvSpPr/>
          <p:nvPr/>
        </p:nvSpPr>
        <p:spPr>
          <a:xfrm>
            <a:off x="685800" y="1417320"/>
            <a:ext cx="5166360" cy="4389120"/>
          </a:xfrm>
          <a:prstGeom prst="roundRect">
            <a:avLst>
              <a:gd name="adj" fmla="val 1667"/>
            </a:avLst>
          </a:prstGeom>
          <a:solidFill>
            <a:srgbClr val="FFFFFF"/>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0" name="Text 8"/>
          <p:cNvSpPr/>
          <p:nvPr/>
        </p:nvSpPr>
        <p:spPr>
          <a:xfrm>
            <a:off x="914400" y="1600200"/>
            <a:ext cx="470916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Confirmación</a:t>
            </a:r>
            <a:endParaRPr lang="en-US" sz="1460" dirty="0"/>
          </a:p>
        </p:txBody>
      </p:sp>
      <p:sp>
        <p:nvSpPr>
          <p:cNvPr id="11" name="Text 9"/>
          <p:cNvSpPr/>
          <p:nvPr/>
        </p:nvSpPr>
        <p:spPr>
          <a:xfrm>
            <a:off x="914400" y="1947672"/>
            <a:ext cx="4709160" cy="3675888"/>
          </a:xfrm>
          <a:prstGeom prst="rect">
            <a:avLst/>
          </a:prstGeom>
          <a:noFill/>
          <a:ln/>
        </p:spPr>
        <p:txBody>
          <a:bodyPr wrap="square" lIns="254" tIns="254" rIns="254" bIns="254"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 Código de reserva</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Estado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Habitación</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Fechas y huéspedes</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Total, abono y saldo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Cliente asociado: nombre, correo, teléfono e ID</a:t>
            </a:r>
            <a:endParaRPr lang="en-US" sz="1500" dirty="0"/>
          </a:p>
        </p:txBody>
      </p:sp>
      <p:sp>
        <p:nvSpPr>
          <p:cNvPr id="12" name="Shape 10"/>
          <p:cNvSpPr/>
          <p:nvPr/>
        </p:nvSpPr>
        <p:spPr>
          <a:xfrm>
            <a:off x="6355080" y="1417320"/>
            <a:ext cx="5166360" cy="4389120"/>
          </a:xfrm>
          <a:prstGeom prst="roundRect">
            <a:avLst>
              <a:gd name="adj" fmla="val 1667"/>
            </a:avLst>
          </a:prstGeom>
          <a:solidFill>
            <a:srgbClr val="EAF3FA"/>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3" name="Text 11"/>
          <p:cNvSpPr/>
          <p:nvPr/>
        </p:nvSpPr>
        <p:spPr>
          <a:xfrm>
            <a:off x="6583680" y="1600200"/>
            <a:ext cx="470916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Panel administrador</a:t>
            </a:r>
            <a:endParaRPr lang="en-US" sz="1460" dirty="0"/>
          </a:p>
        </p:txBody>
      </p:sp>
      <p:sp>
        <p:nvSpPr>
          <p:cNvPr id="14" name="Text 12"/>
          <p:cNvSpPr/>
          <p:nvPr/>
        </p:nvSpPr>
        <p:spPr>
          <a:xfrm>
            <a:off x="6583680" y="1947672"/>
            <a:ext cx="4709160" cy="3675888"/>
          </a:xfrm>
          <a:prstGeom prst="rect">
            <a:avLst/>
          </a:prstGeom>
          <a:noFill/>
          <a:ln/>
        </p:spPr>
        <p:txBody>
          <a:bodyPr wrap="square" lIns="254" tIns="254" rIns="254" bIns="254"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 Reservas registradas</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Datos de habitación</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Estado y montos</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Cliente asociado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Correo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Teléfono</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BB3A3"/>
          </a:solidFill>
          <a:ln w="12700">
            <a:solidFill>
              <a:srgbClr val="2BB3A3"/>
            </a:solidFill>
            <a:prstDash val="solid"/>
          </a:ln>
        </p:spPr>
      </p:sp>
      <p:sp>
        <p:nvSpPr>
          <p:cNvPr id="3" name="Text 1"/>
          <p:cNvSpPr/>
          <p:nvPr/>
        </p:nvSpPr>
        <p:spPr>
          <a:xfrm>
            <a:off x="594360" y="493776"/>
            <a:ext cx="9784080" cy="411480"/>
          </a:xfrm>
          <a:prstGeom prst="rect">
            <a:avLst/>
          </a:prstGeom>
          <a:noFill/>
          <a:ln/>
        </p:spPr>
        <p:txBody>
          <a:bodyPr wrap="square" lIns="0" tIns="0" rIns="0" bIns="0" rtlCol="0" anchor="ctr"/>
          <a:lstStyle/>
          <a:p>
            <a:pPr indent="0" marL="0">
              <a:buNone/>
            </a:pPr>
            <a:r>
              <a:rPr lang="en-US" sz="2500" b="1" dirty="0">
                <a:solidFill>
                  <a:srgbClr val="0B1F33"/>
                </a:solidFill>
                <a:latin typeface="Arial" pitchFamily="34" charset="0"/>
                <a:ea typeface="Arial" pitchFamily="34" charset="-122"/>
                <a:cs typeface="Arial" pitchFamily="34" charset="-120"/>
              </a:rPr>
              <a:t>Integración técnica Semana 8</a:t>
            </a:r>
            <a:endParaRPr lang="en-US" sz="2500" dirty="0"/>
          </a:p>
        </p:txBody>
      </p:sp>
      <p:sp>
        <p:nvSpPr>
          <p:cNvPr id="4" name="Text 2"/>
          <p:cNvSpPr/>
          <p:nvPr/>
        </p:nvSpPr>
        <p:spPr>
          <a:xfrm>
            <a:off x="621792" y="960120"/>
            <a:ext cx="10424160" cy="228600"/>
          </a:xfrm>
          <a:prstGeom prst="rect">
            <a:avLst/>
          </a:prstGeom>
          <a:noFill/>
          <a:ln/>
        </p:spPr>
        <p:txBody>
          <a:bodyPr wrap="square" lIns="0" tIns="0" rIns="0" bIns="0" rtlCol="0" anchor="ctr"/>
          <a:lstStyle/>
          <a:p>
            <a:pPr indent="0" marL="0">
              <a:buNone/>
            </a:pPr>
            <a:r>
              <a:rPr lang="en-US" sz="1130" dirty="0">
                <a:solidFill>
                  <a:srgbClr val="637083"/>
                </a:solidFill>
                <a:latin typeface="Arial" pitchFamily="34" charset="0"/>
                <a:ea typeface="Arial" pitchFamily="34" charset="-122"/>
                <a:cs typeface="Arial" pitchFamily="34" charset="-120"/>
              </a:rPr>
              <a:t>Componentes principales utilizados en el release.</a:t>
            </a:r>
            <a:endParaRPr lang="en-US" sz="1130" dirty="0"/>
          </a:p>
        </p:txBody>
      </p:sp>
      <p:sp>
        <p:nvSpPr>
          <p:cNvPr id="5" name="Shape 3"/>
          <p:cNvSpPr/>
          <p:nvPr/>
        </p:nvSpPr>
        <p:spPr>
          <a:xfrm>
            <a:off x="0" y="6519672"/>
            <a:ext cx="12191695" cy="338328"/>
          </a:xfrm>
          <a:prstGeom prst="rect">
            <a:avLst/>
          </a:prstGeom>
          <a:solidFill>
            <a:srgbClr val="0B1F33"/>
          </a:solidFill>
          <a:ln w="12700">
            <a:solidFill>
              <a:srgbClr val="0B1F33"/>
            </a:solidFill>
            <a:prstDash val="solid"/>
          </a:ln>
        </p:spPr>
      </p:sp>
      <p:sp>
        <p:nvSpPr>
          <p:cNvPr id="6" name="Text 4"/>
          <p:cNvSpPr/>
          <p:nvPr/>
        </p:nvSpPr>
        <p:spPr>
          <a:xfrm>
            <a:off x="420624" y="6611112"/>
            <a:ext cx="5852160" cy="118872"/>
          </a:xfrm>
          <a:prstGeom prst="rect">
            <a:avLst/>
          </a:prstGeom>
          <a:noFill/>
          <a:ln/>
        </p:spPr>
        <p:txBody>
          <a:bodyPr wrap="square" lIns="0" tIns="0" rIns="0" bIns="0" rtlCol="0" anchor="ctr"/>
          <a:lstStyle/>
          <a:p>
            <a:pPr indent="0" marL="0">
              <a:buNone/>
            </a:pPr>
            <a:r>
              <a:rPr lang="en-US" sz="760" dirty="0">
                <a:solidFill>
                  <a:srgbClr val="FFFFFF"/>
                </a:solidFill>
                <a:latin typeface="Arial" pitchFamily="34" charset="0"/>
                <a:ea typeface="Arial" pitchFamily="34" charset="-122"/>
                <a:cs typeface="Arial" pitchFamily="34" charset="-120"/>
              </a:rPr>
              <a:t>PRY3211 · Ingeniería de Software · Hotel Pacific Reef</a:t>
            </a:r>
            <a:endParaRPr lang="en-US" sz="760" dirty="0"/>
          </a:p>
        </p:txBody>
      </p:sp>
      <p:sp>
        <p:nvSpPr>
          <p:cNvPr id="7" name="Text 5"/>
          <p:cNvSpPr/>
          <p:nvPr/>
        </p:nvSpPr>
        <p:spPr>
          <a:xfrm>
            <a:off x="6858000" y="6611112"/>
            <a:ext cx="3429000" cy="118872"/>
          </a:xfrm>
          <a:prstGeom prst="rect">
            <a:avLst/>
          </a:prstGeom>
          <a:noFill/>
          <a:ln/>
        </p:spPr>
        <p:txBody>
          <a:bodyPr wrap="square" lIns="0" tIns="0" rIns="0" bIns="0" rtlCol="0" anchor="ctr"/>
          <a:lstStyle/>
          <a:p>
            <a:pPr algn="r" indent="0" marL="0">
              <a:buNone/>
            </a:pPr>
            <a:r>
              <a:rPr lang="en-US" sz="760" dirty="0">
                <a:solidFill>
                  <a:srgbClr val="FFFFFF"/>
                </a:solidFill>
                <a:latin typeface="Arial" pitchFamily="34" charset="0"/>
                <a:ea typeface="Arial" pitchFamily="34" charset="-122"/>
                <a:cs typeface="Arial" pitchFamily="34" charset="-120"/>
              </a:rPr>
              <a:t>Habla: Bastián Carrillo</a:t>
            </a:r>
            <a:endParaRPr lang="en-US" sz="760" dirty="0"/>
          </a:p>
        </p:txBody>
      </p:sp>
      <p:sp>
        <p:nvSpPr>
          <p:cNvPr id="8" name="Text 6"/>
          <p:cNvSpPr/>
          <p:nvPr/>
        </p:nvSpPr>
        <p:spPr>
          <a:xfrm>
            <a:off x="11064240" y="6556248"/>
            <a:ext cx="685800" cy="1920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06</a:t>
            </a:r>
            <a:endParaRPr lang="en-US" sz="950" dirty="0"/>
          </a:p>
        </p:txBody>
      </p:sp>
      <p:sp>
        <p:nvSpPr>
          <p:cNvPr id="9" name="Shape 7"/>
          <p:cNvSpPr/>
          <p:nvPr/>
        </p:nvSpPr>
        <p:spPr>
          <a:xfrm>
            <a:off x="868680" y="1783080"/>
            <a:ext cx="1874520" cy="310896"/>
          </a:xfrm>
          <a:prstGeom prst="roundRect">
            <a:avLst>
              <a:gd name="adj" fmla="val 20588"/>
            </a:avLst>
          </a:prstGeom>
          <a:solidFill>
            <a:srgbClr val="145DA0"/>
          </a:solidFill>
          <a:ln w="12700">
            <a:solidFill>
              <a:srgbClr val="145DA0"/>
            </a:solidFill>
            <a:prstDash val="solid"/>
          </a:ln>
        </p:spPr>
      </p:sp>
      <p:sp>
        <p:nvSpPr>
          <p:cNvPr id="10" name="Text 8"/>
          <p:cNvSpPr/>
          <p:nvPr/>
        </p:nvSpPr>
        <p:spPr>
          <a:xfrm>
            <a:off x="868680" y="1849831"/>
            <a:ext cx="1874520" cy="100584"/>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HTML / CSS / Jinja</a:t>
            </a:r>
            <a:endParaRPr lang="en-US" sz="880" dirty="0"/>
          </a:p>
        </p:txBody>
      </p:sp>
      <p:sp>
        <p:nvSpPr>
          <p:cNvPr id="11" name="Shape 9"/>
          <p:cNvSpPr/>
          <p:nvPr/>
        </p:nvSpPr>
        <p:spPr>
          <a:xfrm>
            <a:off x="3154680" y="1783080"/>
            <a:ext cx="1645920" cy="310896"/>
          </a:xfrm>
          <a:prstGeom prst="roundRect">
            <a:avLst>
              <a:gd name="adj" fmla="val 20588"/>
            </a:avLst>
          </a:prstGeom>
          <a:solidFill>
            <a:srgbClr val="2BB3A3"/>
          </a:solidFill>
          <a:ln w="12700">
            <a:solidFill>
              <a:srgbClr val="2BB3A3"/>
            </a:solidFill>
            <a:prstDash val="solid"/>
          </a:ln>
        </p:spPr>
      </p:sp>
      <p:sp>
        <p:nvSpPr>
          <p:cNvPr id="12" name="Text 10"/>
          <p:cNvSpPr/>
          <p:nvPr/>
        </p:nvSpPr>
        <p:spPr>
          <a:xfrm>
            <a:off x="3154680" y="1849831"/>
            <a:ext cx="1645920" cy="100584"/>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Python + Flask</a:t>
            </a:r>
            <a:endParaRPr lang="en-US" sz="880" dirty="0"/>
          </a:p>
        </p:txBody>
      </p:sp>
      <p:sp>
        <p:nvSpPr>
          <p:cNvPr id="13" name="Shape 11"/>
          <p:cNvSpPr/>
          <p:nvPr/>
        </p:nvSpPr>
        <p:spPr>
          <a:xfrm>
            <a:off x="5285232" y="1783080"/>
            <a:ext cx="1325880" cy="310896"/>
          </a:xfrm>
          <a:prstGeom prst="roundRect">
            <a:avLst>
              <a:gd name="adj" fmla="val 20588"/>
            </a:avLst>
          </a:prstGeom>
          <a:solidFill>
            <a:srgbClr val="0F766E"/>
          </a:solidFill>
          <a:ln w="12700">
            <a:solidFill>
              <a:srgbClr val="0F766E"/>
            </a:solidFill>
            <a:prstDash val="solid"/>
          </a:ln>
        </p:spPr>
      </p:sp>
      <p:sp>
        <p:nvSpPr>
          <p:cNvPr id="14" name="Text 12"/>
          <p:cNvSpPr/>
          <p:nvPr/>
        </p:nvSpPr>
        <p:spPr>
          <a:xfrm>
            <a:off x="5285232" y="1849831"/>
            <a:ext cx="1325880" cy="100584"/>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SQLite</a:t>
            </a:r>
            <a:endParaRPr lang="en-US" sz="880" dirty="0"/>
          </a:p>
        </p:txBody>
      </p:sp>
      <p:sp>
        <p:nvSpPr>
          <p:cNvPr id="15" name="Shape 13"/>
          <p:cNvSpPr/>
          <p:nvPr/>
        </p:nvSpPr>
        <p:spPr>
          <a:xfrm>
            <a:off x="7150608" y="1783080"/>
            <a:ext cx="1645920" cy="310896"/>
          </a:xfrm>
          <a:prstGeom prst="roundRect">
            <a:avLst>
              <a:gd name="adj" fmla="val 20588"/>
            </a:avLst>
          </a:prstGeom>
          <a:solidFill>
            <a:srgbClr val="F59E0B"/>
          </a:solidFill>
          <a:ln w="12700">
            <a:solidFill>
              <a:srgbClr val="F59E0B"/>
            </a:solidFill>
            <a:prstDash val="solid"/>
          </a:ln>
        </p:spPr>
      </p:sp>
      <p:sp>
        <p:nvSpPr>
          <p:cNvPr id="16" name="Text 14"/>
          <p:cNvSpPr/>
          <p:nvPr/>
        </p:nvSpPr>
        <p:spPr>
          <a:xfrm>
            <a:off x="7150608" y="1849831"/>
            <a:ext cx="1645920" cy="100584"/>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Open-Meteo</a:t>
            </a:r>
            <a:endParaRPr lang="en-US" sz="880" dirty="0"/>
          </a:p>
        </p:txBody>
      </p:sp>
      <p:sp>
        <p:nvSpPr>
          <p:cNvPr id="17" name="Shape 15"/>
          <p:cNvSpPr/>
          <p:nvPr/>
        </p:nvSpPr>
        <p:spPr>
          <a:xfrm>
            <a:off x="9281160" y="1783080"/>
            <a:ext cx="1417320" cy="310896"/>
          </a:xfrm>
          <a:prstGeom prst="roundRect">
            <a:avLst>
              <a:gd name="adj" fmla="val 20588"/>
            </a:avLst>
          </a:prstGeom>
          <a:solidFill>
            <a:srgbClr val="0B1F33"/>
          </a:solidFill>
          <a:ln w="12700">
            <a:solidFill>
              <a:srgbClr val="0B1F33"/>
            </a:solidFill>
            <a:prstDash val="solid"/>
          </a:ln>
        </p:spPr>
      </p:sp>
      <p:sp>
        <p:nvSpPr>
          <p:cNvPr id="18" name="Text 16"/>
          <p:cNvSpPr/>
          <p:nvPr/>
        </p:nvSpPr>
        <p:spPr>
          <a:xfrm>
            <a:off x="9281160" y="1849831"/>
            <a:ext cx="1417320" cy="100584"/>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JSON API</a:t>
            </a:r>
            <a:endParaRPr lang="en-US" sz="880" dirty="0"/>
          </a:p>
        </p:txBody>
      </p:sp>
      <p:sp>
        <p:nvSpPr>
          <p:cNvPr id="19" name="Shape 17"/>
          <p:cNvSpPr/>
          <p:nvPr/>
        </p:nvSpPr>
        <p:spPr>
          <a:xfrm>
            <a:off x="2852928" y="1847088"/>
            <a:ext cx="274320" cy="201168"/>
          </a:xfrm>
          <a:prstGeom prst="chevron">
            <a:avLst/>
          </a:prstGeom>
          <a:solidFill>
            <a:srgbClr val="637083"/>
          </a:solidFill>
          <a:ln w="12700">
            <a:solidFill>
              <a:srgbClr val="637083"/>
            </a:solidFill>
            <a:prstDash val="solid"/>
          </a:ln>
        </p:spPr>
      </p:sp>
      <p:sp>
        <p:nvSpPr>
          <p:cNvPr id="20" name="Shape 18"/>
          <p:cNvSpPr/>
          <p:nvPr/>
        </p:nvSpPr>
        <p:spPr>
          <a:xfrm>
            <a:off x="4983480" y="1847088"/>
            <a:ext cx="274320" cy="201168"/>
          </a:xfrm>
          <a:prstGeom prst="chevron">
            <a:avLst/>
          </a:prstGeom>
          <a:solidFill>
            <a:srgbClr val="637083"/>
          </a:solidFill>
          <a:ln w="12700">
            <a:solidFill>
              <a:srgbClr val="637083"/>
            </a:solidFill>
            <a:prstDash val="solid"/>
          </a:ln>
        </p:spPr>
      </p:sp>
      <p:sp>
        <p:nvSpPr>
          <p:cNvPr id="21" name="Shape 19"/>
          <p:cNvSpPr/>
          <p:nvPr/>
        </p:nvSpPr>
        <p:spPr>
          <a:xfrm>
            <a:off x="6812280" y="1847088"/>
            <a:ext cx="274320" cy="201168"/>
          </a:xfrm>
          <a:prstGeom prst="chevron">
            <a:avLst/>
          </a:prstGeom>
          <a:solidFill>
            <a:srgbClr val="637083"/>
          </a:solidFill>
          <a:ln w="12700">
            <a:solidFill>
              <a:srgbClr val="637083"/>
            </a:solidFill>
            <a:prstDash val="solid"/>
          </a:ln>
        </p:spPr>
      </p:sp>
      <p:sp>
        <p:nvSpPr>
          <p:cNvPr id="22" name="Shape 20"/>
          <p:cNvSpPr/>
          <p:nvPr/>
        </p:nvSpPr>
        <p:spPr>
          <a:xfrm>
            <a:off x="8979408" y="1847088"/>
            <a:ext cx="274320" cy="201168"/>
          </a:xfrm>
          <a:prstGeom prst="chevron">
            <a:avLst/>
          </a:prstGeom>
          <a:solidFill>
            <a:srgbClr val="637083"/>
          </a:solidFill>
          <a:ln w="12700">
            <a:solidFill>
              <a:srgbClr val="637083"/>
            </a:solidFill>
            <a:prstDash val="solid"/>
          </a:ln>
        </p:spPr>
      </p:sp>
      <p:sp>
        <p:nvSpPr>
          <p:cNvPr id="23" name="Shape 21"/>
          <p:cNvSpPr/>
          <p:nvPr/>
        </p:nvSpPr>
        <p:spPr>
          <a:xfrm>
            <a:off x="822960" y="2788920"/>
            <a:ext cx="3246120" cy="2423160"/>
          </a:xfrm>
          <a:prstGeom prst="roundRect">
            <a:avLst>
              <a:gd name="adj" fmla="val 3019"/>
            </a:avLst>
          </a:prstGeom>
          <a:solidFill>
            <a:srgbClr val="FFFFFF"/>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24" name="Text 22"/>
          <p:cNvSpPr/>
          <p:nvPr/>
        </p:nvSpPr>
        <p:spPr>
          <a:xfrm>
            <a:off x="1051560" y="2971800"/>
            <a:ext cx="278892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Back-end</a:t>
            </a:r>
            <a:endParaRPr lang="en-US" sz="1460" dirty="0"/>
          </a:p>
        </p:txBody>
      </p:sp>
      <p:sp>
        <p:nvSpPr>
          <p:cNvPr id="25" name="Text 23"/>
          <p:cNvSpPr/>
          <p:nvPr/>
        </p:nvSpPr>
        <p:spPr>
          <a:xfrm>
            <a:off x="1051560" y="3319272"/>
            <a:ext cx="2788920" cy="1709928"/>
          </a:xfrm>
          <a:prstGeom prst="rect">
            <a:avLst/>
          </a:prstGeom>
          <a:noFill/>
          <a:ln/>
        </p:spPr>
        <p:txBody>
          <a:bodyPr wrap="square" lIns="254" tIns="254" rIns="254" bIns="254" rtlCol="0" anchor="t">
            <a:normAutofit/>
          </a:bodyPr>
          <a:lstStyle/>
          <a:p>
            <a:pPr indent="0" marL="0">
              <a:buNone/>
            </a:pPr>
            <a:r>
              <a:rPr lang="en-US" sz="1360" dirty="0">
                <a:solidFill>
                  <a:srgbClr val="1F2937"/>
                </a:solidFill>
                <a:latin typeface="Arial" pitchFamily="34" charset="0"/>
                <a:ea typeface="Arial" pitchFamily="34" charset="-122"/>
                <a:cs typeface="Arial" pitchFamily="34" charset="-120"/>
              </a:rPr>
              <a:t>Python + Flask</a:t>
            </a:r>
            <a:endParaRPr lang="en-US" sz="1360" dirty="0"/>
          </a:p>
          <a:p>
            <a:pPr indent="0" marL="0">
              <a:buNone/>
            </a:pPr>
            <a:r>
              <a:rPr lang="en-US" sz="1360" dirty="0">
                <a:solidFill>
                  <a:srgbClr val="1F2937"/>
                </a:solidFill>
                <a:latin typeface="Arial" pitchFamily="34" charset="0"/>
                <a:ea typeface="Arial" pitchFamily="34" charset="-122"/>
                <a:cs typeface="Arial" pitchFamily="34" charset="-120"/>
              </a:rPr>
              <a:t>Rutas de interfaz</a:t>
            </a:r>
            <a:endParaRPr lang="en-US" sz="1360" dirty="0"/>
          </a:p>
          <a:p>
            <a:pPr indent="0" marL="0">
              <a:buNone/>
            </a:pPr>
            <a:r>
              <a:rPr lang="en-US" sz="1360" dirty="0">
                <a:solidFill>
                  <a:srgbClr val="1F2937"/>
                </a:solidFill>
                <a:latin typeface="Arial" pitchFamily="34" charset="0"/>
                <a:ea typeface="Arial" pitchFamily="34" charset="-122"/>
                <a:cs typeface="Arial" pitchFamily="34" charset="-120"/>
              </a:rPr>
              <a:t>Validaciones</a:t>
            </a:r>
            <a:endParaRPr lang="en-US" sz="1360" dirty="0"/>
          </a:p>
          <a:p>
            <a:pPr indent="0" marL="0">
              <a:buNone/>
            </a:pPr>
            <a:r>
              <a:rPr lang="en-US" sz="1360" dirty="0">
                <a:solidFill>
                  <a:srgbClr val="1F2937"/>
                </a:solidFill>
                <a:latin typeface="Arial" pitchFamily="34" charset="0"/>
                <a:ea typeface="Arial" pitchFamily="34" charset="-122"/>
                <a:cs typeface="Arial" pitchFamily="34" charset="-120"/>
              </a:rPr>
              <a:t>Lógica de negocio básica</a:t>
            </a:r>
            <a:endParaRPr lang="en-US" sz="1360" dirty="0"/>
          </a:p>
        </p:txBody>
      </p:sp>
      <p:sp>
        <p:nvSpPr>
          <p:cNvPr id="26" name="Shape 24"/>
          <p:cNvSpPr/>
          <p:nvPr/>
        </p:nvSpPr>
        <p:spPr>
          <a:xfrm>
            <a:off x="4480560" y="2788920"/>
            <a:ext cx="3246120" cy="2423160"/>
          </a:xfrm>
          <a:prstGeom prst="roundRect">
            <a:avLst>
              <a:gd name="adj" fmla="val 3019"/>
            </a:avLst>
          </a:prstGeom>
          <a:solidFill>
            <a:srgbClr val="E7F7F5"/>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27" name="Text 25"/>
          <p:cNvSpPr/>
          <p:nvPr/>
        </p:nvSpPr>
        <p:spPr>
          <a:xfrm>
            <a:off x="4709160" y="2971800"/>
            <a:ext cx="278892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Base de datos</a:t>
            </a:r>
            <a:endParaRPr lang="en-US" sz="1460" dirty="0"/>
          </a:p>
        </p:txBody>
      </p:sp>
      <p:sp>
        <p:nvSpPr>
          <p:cNvPr id="28" name="Text 26"/>
          <p:cNvSpPr/>
          <p:nvPr/>
        </p:nvSpPr>
        <p:spPr>
          <a:xfrm>
            <a:off x="4709160" y="3319272"/>
            <a:ext cx="2788920" cy="1709928"/>
          </a:xfrm>
          <a:prstGeom prst="rect">
            <a:avLst/>
          </a:prstGeom>
          <a:noFill/>
          <a:ln/>
        </p:spPr>
        <p:txBody>
          <a:bodyPr wrap="square" lIns="254" tIns="254" rIns="254" bIns="254" rtlCol="0" anchor="t">
            <a:normAutofit/>
          </a:bodyPr>
          <a:lstStyle/>
          <a:p>
            <a:pPr indent="0" marL="0">
              <a:buNone/>
            </a:pPr>
            <a:r>
              <a:rPr lang="en-US" sz="1360" dirty="0">
                <a:solidFill>
                  <a:srgbClr val="1F2937"/>
                </a:solidFill>
                <a:latin typeface="Arial" pitchFamily="34" charset="0"/>
                <a:ea typeface="Arial" pitchFamily="34" charset="-122"/>
                <a:cs typeface="Arial" pitchFamily="34" charset="-120"/>
              </a:rPr>
              <a:t>SQLite</a:t>
            </a:r>
            <a:endParaRPr lang="en-US" sz="1360" dirty="0"/>
          </a:p>
          <a:p>
            <a:pPr indent="0" marL="0">
              <a:buNone/>
            </a:pPr>
            <a:r>
              <a:rPr lang="en-US" sz="1360" dirty="0">
                <a:solidFill>
                  <a:srgbClr val="1F2937"/>
                </a:solidFill>
                <a:latin typeface="Arial" pitchFamily="34" charset="0"/>
                <a:ea typeface="Arial" pitchFamily="34" charset="-122"/>
                <a:cs typeface="Arial" pitchFamily="34" charset="-120"/>
              </a:rPr>
              <a:t>Usuarios</a:t>
            </a:r>
            <a:endParaRPr lang="en-US" sz="1360" dirty="0"/>
          </a:p>
          <a:p>
            <a:pPr indent="0" marL="0">
              <a:buNone/>
            </a:pPr>
            <a:r>
              <a:rPr lang="en-US" sz="1360" dirty="0">
                <a:solidFill>
                  <a:srgbClr val="1F2937"/>
                </a:solidFill>
                <a:latin typeface="Arial" pitchFamily="34" charset="0"/>
                <a:ea typeface="Arial" pitchFamily="34" charset="-122"/>
                <a:cs typeface="Arial" pitchFamily="34" charset="-120"/>
              </a:rPr>
              <a:t>Clientes</a:t>
            </a:r>
            <a:endParaRPr lang="en-US" sz="1360" dirty="0"/>
          </a:p>
          <a:p>
            <a:pPr indent="0" marL="0">
              <a:buNone/>
            </a:pPr>
            <a:r>
              <a:rPr lang="en-US" sz="1360" dirty="0">
                <a:solidFill>
                  <a:srgbClr val="1F2937"/>
                </a:solidFill>
                <a:latin typeface="Arial" pitchFamily="34" charset="0"/>
                <a:ea typeface="Arial" pitchFamily="34" charset="-122"/>
                <a:cs typeface="Arial" pitchFamily="34" charset="-120"/>
              </a:rPr>
              <a:t>Habitaciones</a:t>
            </a:r>
            <a:endParaRPr lang="en-US" sz="1360" dirty="0"/>
          </a:p>
          <a:p>
            <a:pPr indent="0" marL="0">
              <a:buNone/>
            </a:pPr>
            <a:r>
              <a:rPr lang="en-US" sz="1360" dirty="0">
                <a:solidFill>
                  <a:srgbClr val="1F2937"/>
                </a:solidFill>
                <a:latin typeface="Arial" pitchFamily="34" charset="0"/>
                <a:ea typeface="Arial" pitchFamily="34" charset="-122"/>
                <a:cs typeface="Arial" pitchFamily="34" charset="-120"/>
              </a:rPr>
              <a:t>Reservas</a:t>
            </a:r>
            <a:endParaRPr lang="en-US" sz="1360" dirty="0"/>
          </a:p>
        </p:txBody>
      </p:sp>
      <p:sp>
        <p:nvSpPr>
          <p:cNvPr id="29" name="Shape 27"/>
          <p:cNvSpPr/>
          <p:nvPr/>
        </p:nvSpPr>
        <p:spPr>
          <a:xfrm>
            <a:off x="8138160" y="2788920"/>
            <a:ext cx="3246120" cy="2423160"/>
          </a:xfrm>
          <a:prstGeom prst="roundRect">
            <a:avLst>
              <a:gd name="adj" fmla="val 3019"/>
            </a:avLst>
          </a:prstGeom>
          <a:solidFill>
            <a:srgbClr val="EAF3FA"/>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30" name="Text 28"/>
          <p:cNvSpPr/>
          <p:nvPr/>
        </p:nvSpPr>
        <p:spPr>
          <a:xfrm>
            <a:off x="8366760" y="2971800"/>
            <a:ext cx="278892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Servicios</a:t>
            </a:r>
            <a:endParaRPr lang="en-US" sz="1460" dirty="0"/>
          </a:p>
        </p:txBody>
      </p:sp>
      <p:sp>
        <p:nvSpPr>
          <p:cNvPr id="31" name="Text 29"/>
          <p:cNvSpPr/>
          <p:nvPr/>
        </p:nvSpPr>
        <p:spPr>
          <a:xfrm>
            <a:off x="8366760" y="3319272"/>
            <a:ext cx="2788920" cy="1709928"/>
          </a:xfrm>
          <a:prstGeom prst="rect">
            <a:avLst/>
          </a:prstGeom>
          <a:noFill/>
          <a:ln/>
        </p:spPr>
        <p:txBody>
          <a:bodyPr wrap="square" lIns="254" tIns="254" rIns="254" bIns="254" rtlCol="0" anchor="t">
            <a:normAutofit/>
          </a:bodyPr>
          <a:lstStyle/>
          <a:p>
            <a:pPr indent="0" marL="0">
              <a:buNone/>
            </a:pPr>
            <a:r>
              <a:rPr lang="en-US" sz="1360" dirty="0">
                <a:solidFill>
                  <a:srgbClr val="1F2937"/>
                </a:solidFill>
                <a:latin typeface="Arial" pitchFamily="34" charset="0"/>
                <a:ea typeface="Arial" pitchFamily="34" charset="-122"/>
                <a:cs typeface="Arial" pitchFamily="34" charset="-120"/>
              </a:rPr>
              <a:t>Open-Meteo</a:t>
            </a:r>
            <a:endParaRPr lang="en-US" sz="1360" dirty="0"/>
          </a:p>
          <a:p>
            <a:pPr indent="0" marL="0">
              <a:buNone/>
            </a:pPr>
            <a:r>
              <a:rPr lang="en-US" sz="1360" dirty="0">
                <a:solidFill>
                  <a:srgbClr val="1F2937"/>
                </a:solidFill>
                <a:latin typeface="Arial" pitchFamily="34" charset="0"/>
                <a:ea typeface="Arial" pitchFamily="34" charset="-122"/>
                <a:cs typeface="Arial" pitchFamily="34" charset="-120"/>
              </a:rPr>
              <a:t>/api/health</a:t>
            </a:r>
            <a:endParaRPr lang="en-US" sz="1360" dirty="0"/>
          </a:p>
          <a:p>
            <a:pPr indent="0" marL="0">
              <a:buNone/>
            </a:pPr>
            <a:r>
              <a:rPr lang="en-US" sz="1360" dirty="0">
                <a:solidFill>
                  <a:srgbClr val="1F2937"/>
                </a:solidFill>
                <a:latin typeface="Arial" pitchFamily="34" charset="0"/>
                <a:ea typeface="Arial" pitchFamily="34" charset="-122"/>
                <a:cs typeface="Arial" pitchFamily="34" charset="-120"/>
              </a:rPr>
              <a:t>/api/reservas</a:t>
            </a:r>
            <a:endParaRPr lang="en-US" sz="1360" dirty="0"/>
          </a:p>
          <a:p>
            <a:pPr indent="0" marL="0">
              <a:buNone/>
            </a:pPr>
            <a:r>
              <a:rPr lang="en-US" sz="1360" dirty="0">
                <a:solidFill>
                  <a:srgbClr val="1F2937"/>
                </a:solidFill>
                <a:latin typeface="Arial" pitchFamily="34" charset="0"/>
                <a:ea typeface="Arial" pitchFamily="34" charset="-122"/>
                <a:cs typeface="Arial" pitchFamily="34" charset="-120"/>
              </a:rPr>
              <a:t>/api/disponibilidad</a:t>
            </a:r>
            <a:endParaRPr lang="en-US" sz="1360" dirty="0"/>
          </a:p>
          <a:p>
            <a:pPr indent="0" marL="0">
              <a:buNone/>
            </a:pPr>
            <a:r>
              <a:rPr lang="en-US" sz="1360" dirty="0">
                <a:solidFill>
                  <a:srgbClr val="1F2937"/>
                </a:solidFill>
                <a:latin typeface="Arial" pitchFamily="34" charset="0"/>
                <a:ea typeface="Arial" pitchFamily="34" charset="-122"/>
                <a:cs typeface="Arial" pitchFamily="34" charset="-120"/>
              </a:rPr>
              <a:t>/api/clima-destino</a:t>
            </a:r>
            <a:endParaRPr lang="en-US" sz="13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BB3A3"/>
          </a:solidFill>
          <a:ln w="12700">
            <a:solidFill>
              <a:srgbClr val="2BB3A3"/>
            </a:solidFill>
            <a:prstDash val="solid"/>
          </a:ln>
        </p:spPr>
      </p:sp>
      <p:sp>
        <p:nvSpPr>
          <p:cNvPr id="3" name="Text 1"/>
          <p:cNvSpPr/>
          <p:nvPr/>
        </p:nvSpPr>
        <p:spPr>
          <a:xfrm>
            <a:off x="594360" y="493776"/>
            <a:ext cx="9784080" cy="411480"/>
          </a:xfrm>
          <a:prstGeom prst="rect">
            <a:avLst/>
          </a:prstGeom>
          <a:noFill/>
          <a:ln/>
        </p:spPr>
        <p:txBody>
          <a:bodyPr wrap="square" lIns="0" tIns="0" rIns="0" bIns="0" rtlCol="0" anchor="ctr"/>
          <a:lstStyle/>
          <a:p>
            <a:pPr indent="0" marL="0">
              <a:buNone/>
            </a:pPr>
            <a:r>
              <a:rPr lang="en-US" sz="2500" b="1" dirty="0">
                <a:solidFill>
                  <a:srgbClr val="0B1F33"/>
                </a:solidFill>
                <a:latin typeface="Arial" pitchFamily="34" charset="0"/>
                <a:ea typeface="Arial" pitchFamily="34" charset="-122"/>
                <a:cs typeface="Arial" pitchFamily="34" charset="-120"/>
              </a:rPr>
              <a:t>Servicio externo y endpoints JSON</a:t>
            </a:r>
            <a:endParaRPr lang="en-US" sz="2500" dirty="0"/>
          </a:p>
        </p:txBody>
      </p:sp>
      <p:sp>
        <p:nvSpPr>
          <p:cNvPr id="4" name="Text 2"/>
          <p:cNvSpPr/>
          <p:nvPr/>
        </p:nvSpPr>
        <p:spPr>
          <a:xfrm>
            <a:off x="621792" y="960120"/>
            <a:ext cx="10424160" cy="228600"/>
          </a:xfrm>
          <a:prstGeom prst="rect">
            <a:avLst/>
          </a:prstGeom>
          <a:noFill/>
          <a:ln/>
        </p:spPr>
        <p:txBody>
          <a:bodyPr wrap="square" lIns="0" tIns="0" rIns="0" bIns="0" rtlCol="0" anchor="ctr"/>
          <a:lstStyle/>
          <a:p>
            <a:pPr indent="0" marL="0">
              <a:buNone/>
            </a:pPr>
            <a:r>
              <a:rPr lang="en-US" sz="1130" dirty="0">
                <a:solidFill>
                  <a:srgbClr val="637083"/>
                </a:solidFill>
                <a:latin typeface="Arial" pitchFamily="34" charset="0"/>
                <a:ea typeface="Arial" pitchFamily="34" charset="-122"/>
                <a:cs typeface="Arial" pitchFamily="34" charset="-120"/>
              </a:rPr>
              <a:t>El sistema consume datos externos y expone información propia.</a:t>
            </a:r>
            <a:endParaRPr lang="en-US" sz="1130" dirty="0"/>
          </a:p>
        </p:txBody>
      </p:sp>
      <p:sp>
        <p:nvSpPr>
          <p:cNvPr id="5" name="Shape 3"/>
          <p:cNvSpPr/>
          <p:nvPr/>
        </p:nvSpPr>
        <p:spPr>
          <a:xfrm>
            <a:off x="0" y="6519672"/>
            <a:ext cx="12191695" cy="338328"/>
          </a:xfrm>
          <a:prstGeom prst="rect">
            <a:avLst/>
          </a:prstGeom>
          <a:solidFill>
            <a:srgbClr val="0B1F33"/>
          </a:solidFill>
          <a:ln w="12700">
            <a:solidFill>
              <a:srgbClr val="0B1F33"/>
            </a:solidFill>
            <a:prstDash val="solid"/>
          </a:ln>
        </p:spPr>
      </p:sp>
      <p:sp>
        <p:nvSpPr>
          <p:cNvPr id="6" name="Text 4"/>
          <p:cNvSpPr/>
          <p:nvPr/>
        </p:nvSpPr>
        <p:spPr>
          <a:xfrm>
            <a:off x="420624" y="6611112"/>
            <a:ext cx="5852160" cy="118872"/>
          </a:xfrm>
          <a:prstGeom prst="rect">
            <a:avLst/>
          </a:prstGeom>
          <a:noFill/>
          <a:ln/>
        </p:spPr>
        <p:txBody>
          <a:bodyPr wrap="square" lIns="0" tIns="0" rIns="0" bIns="0" rtlCol="0" anchor="ctr"/>
          <a:lstStyle/>
          <a:p>
            <a:pPr indent="0" marL="0">
              <a:buNone/>
            </a:pPr>
            <a:r>
              <a:rPr lang="en-US" sz="760" dirty="0">
                <a:solidFill>
                  <a:srgbClr val="FFFFFF"/>
                </a:solidFill>
                <a:latin typeface="Arial" pitchFamily="34" charset="0"/>
                <a:ea typeface="Arial" pitchFamily="34" charset="-122"/>
                <a:cs typeface="Arial" pitchFamily="34" charset="-120"/>
              </a:rPr>
              <a:t>PRY3211 · Ingeniería de Software · Hotel Pacific Reef</a:t>
            </a:r>
            <a:endParaRPr lang="en-US" sz="760" dirty="0"/>
          </a:p>
        </p:txBody>
      </p:sp>
      <p:sp>
        <p:nvSpPr>
          <p:cNvPr id="7" name="Text 5"/>
          <p:cNvSpPr/>
          <p:nvPr/>
        </p:nvSpPr>
        <p:spPr>
          <a:xfrm>
            <a:off x="6858000" y="6611112"/>
            <a:ext cx="3429000" cy="118872"/>
          </a:xfrm>
          <a:prstGeom prst="rect">
            <a:avLst/>
          </a:prstGeom>
          <a:noFill/>
          <a:ln/>
        </p:spPr>
        <p:txBody>
          <a:bodyPr wrap="square" lIns="0" tIns="0" rIns="0" bIns="0" rtlCol="0" anchor="ctr"/>
          <a:lstStyle/>
          <a:p>
            <a:pPr algn="r" indent="0" marL="0">
              <a:buNone/>
            </a:pPr>
            <a:r>
              <a:rPr lang="en-US" sz="760" dirty="0">
                <a:solidFill>
                  <a:srgbClr val="FFFFFF"/>
                </a:solidFill>
                <a:latin typeface="Arial" pitchFamily="34" charset="0"/>
                <a:ea typeface="Arial" pitchFamily="34" charset="-122"/>
                <a:cs typeface="Arial" pitchFamily="34" charset="-120"/>
              </a:rPr>
              <a:t>Habla: Bastián Carrillo</a:t>
            </a:r>
            <a:endParaRPr lang="en-US" sz="760" dirty="0"/>
          </a:p>
        </p:txBody>
      </p:sp>
      <p:sp>
        <p:nvSpPr>
          <p:cNvPr id="8" name="Text 6"/>
          <p:cNvSpPr/>
          <p:nvPr/>
        </p:nvSpPr>
        <p:spPr>
          <a:xfrm>
            <a:off x="11064240" y="6556248"/>
            <a:ext cx="685800" cy="1920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07</a:t>
            </a:r>
            <a:endParaRPr lang="en-US" sz="950" dirty="0"/>
          </a:p>
        </p:txBody>
      </p:sp>
      <p:sp>
        <p:nvSpPr>
          <p:cNvPr id="9" name="Shape 7"/>
          <p:cNvSpPr/>
          <p:nvPr/>
        </p:nvSpPr>
        <p:spPr>
          <a:xfrm>
            <a:off x="685800" y="1417320"/>
            <a:ext cx="5166360" cy="4526280"/>
          </a:xfrm>
          <a:prstGeom prst="roundRect">
            <a:avLst>
              <a:gd name="adj" fmla="val 1616"/>
            </a:avLst>
          </a:prstGeom>
          <a:solidFill>
            <a:srgbClr val="E7F7F5"/>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0" name="Text 8"/>
          <p:cNvSpPr/>
          <p:nvPr/>
        </p:nvSpPr>
        <p:spPr>
          <a:xfrm>
            <a:off x="914400" y="1600200"/>
            <a:ext cx="470916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Open-Meteo</a:t>
            </a:r>
            <a:endParaRPr lang="en-US" sz="1460" dirty="0"/>
          </a:p>
        </p:txBody>
      </p:sp>
      <p:sp>
        <p:nvSpPr>
          <p:cNvPr id="11" name="Text 9"/>
          <p:cNvSpPr/>
          <p:nvPr/>
        </p:nvSpPr>
        <p:spPr>
          <a:xfrm>
            <a:off x="914400" y="1947672"/>
            <a:ext cx="4709160" cy="3813048"/>
          </a:xfrm>
          <a:prstGeom prst="rect">
            <a:avLst/>
          </a:prstGeom>
          <a:noFill/>
          <a:ln/>
        </p:spPr>
        <p:txBody>
          <a:bodyPr wrap="square" lIns="254" tIns="254" rIns="254" bIns="254"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Datos consultados:</a:t>
            </a:r>
            <a:endParaRPr lang="en-US" sz="1500" dirty="0"/>
          </a:p>
          <a:p>
            <a:pPr indent="0" marL="0">
              <a:buNone/>
            </a:pP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Temperatura</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Velocidad y dirección del viento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Condición climática</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Código climático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Fecha, hora y fuente</a:t>
            </a:r>
            <a:endParaRPr lang="en-US" sz="1500" dirty="0"/>
          </a:p>
        </p:txBody>
      </p:sp>
      <p:sp>
        <p:nvSpPr>
          <p:cNvPr id="12" name="Shape 10"/>
          <p:cNvSpPr/>
          <p:nvPr/>
        </p:nvSpPr>
        <p:spPr>
          <a:xfrm>
            <a:off x="6355080" y="1417320"/>
            <a:ext cx="5166360" cy="4526280"/>
          </a:xfrm>
          <a:prstGeom prst="roundRect">
            <a:avLst>
              <a:gd name="adj" fmla="val 1616"/>
            </a:avLst>
          </a:prstGeom>
          <a:solidFill>
            <a:srgbClr val="FFFFFF"/>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3" name="Text 11"/>
          <p:cNvSpPr/>
          <p:nvPr/>
        </p:nvSpPr>
        <p:spPr>
          <a:xfrm>
            <a:off x="6583680" y="1600200"/>
            <a:ext cx="470916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Endpoints JSON</a:t>
            </a:r>
            <a:endParaRPr lang="en-US" sz="1460" dirty="0"/>
          </a:p>
        </p:txBody>
      </p:sp>
      <p:sp>
        <p:nvSpPr>
          <p:cNvPr id="14" name="Text 12"/>
          <p:cNvSpPr/>
          <p:nvPr/>
        </p:nvSpPr>
        <p:spPr>
          <a:xfrm>
            <a:off x="6583680" y="1947672"/>
            <a:ext cx="4709160" cy="3813048"/>
          </a:xfrm>
          <a:prstGeom prst="rect">
            <a:avLst/>
          </a:prstGeom>
          <a:noFill/>
          <a:ln/>
        </p:spPr>
        <p:txBody>
          <a:bodyPr wrap="square" lIns="254" tIns="254" rIns="254" bIns="254"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 /api/health</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/api/reservas</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/api/disponibilidad</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 /api/clima-destino</a:t>
            </a:r>
            <a:endParaRPr lang="en-US" sz="1500" dirty="0"/>
          </a:p>
          <a:p>
            <a:pPr indent="0" marL="0">
              <a:buNone/>
            </a:pP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Incluyen respuestas correctas y errores controlados.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BB3A3"/>
          </a:solidFill>
          <a:ln w="12700">
            <a:solidFill>
              <a:srgbClr val="2BB3A3"/>
            </a:solidFill>
            <a:prstDash val="solid"/>
          </a:ln>
        </p:spPr>
      </p:sp>
      <p:sp>
        <p:nvSpPr>
          <p:cNvPr id="3" name="Text 1"/>
          <p:cNvSpPr/>
          <p:nvPr/>
        </p:nvSpPr>
        <p:spPr>
          <a:xfrm>
            <a:off x="594360" y="493776"/>
            <a:ext cx="9784080" cy="411480"/>
          </a:xfrm>
          <a:prstGeom prst="rect">
            <a:avLst/>
          </a:prstGeom>
          <a:noFill/>
          <a:ln/>
        </p:spPr>
        <p:txBody>
          <a:bodyPr wrap="square" lIns="0" tIns="0" rIns="0" bIns="0" rtlCol="0" anchor="ctr"/>
          <a:lstStyle/>
          <a:p>
            <a:pPr indent="0" marL="0">
              <a:buNone/>
            </a:pPr>
            <a:r>
              <a:rPr lang="en-US" sz="2500" b="1" dirty="0">
                <a:solidFill>
                  <a:srgbClr val="0B1F33"/>
                </a:solidFill>
                <a:latin typeface="Arial" pitchFamily="34" charset="0"/>
                <a:ea typeface="Arial" pitchFamily="34" charset="-122"/>
                <a:cs typeface="Arial" pitchFamily="34" charset="-120"/>
              </a:rPr>
              <a:t>Pruebas, DOD y evidencias</a:t>
            </a:r>
            <a:endParaRPr lang="en-US" sz="2500" dirty="0"/>
          </a:p>
        </p:txBody>
      </p:sp>
      <p:sp>
        <p:nvSpPr>
          <p:cNvPr id="4" name="Text 2"/>
          <p:cNvSpPr/>
          <p:nvPr/>
        </p:nvSpPr>
        <p:spPr>
          <a:xfrm>
            <a:off x="621792" y="960120"/>
            <a:ext cx="10424160" cy="228600"/>
          </a:xfrm>
          <a:prstGeom prst="rect">
            <a:avLst/>
          </a:prstGeom>
          <a:noFill/>
          <a:ln/>
        </p:spPr>
        <p:txBody>
          <a:bodyPr wrap="square" lIns="0" tIns="0" rIns="0" bIns="0" rtlCol="0" anchor="ctr"/>
          <a:lstStyle/>
          <a:p>
            <a:pPr indent="0" marL="0">
              <a:buNone/>
            </a:pPr>
            <a:r>
              <a:rPr lang="en-US" sz="1130" dirty="0">
                <a:solidFill>
                  <a:srgbClr val="637083"/>
                </a:solidFill>
                <a:latin typeface="Arial" pitchFamily="34" charset="0"/>
                <a:ea typeface="Arial" pitchFamily="34" charset="-122"/>
                <a:cs typeface="Arial" pitchFamily="34" charset="-120"/>
              </a:rPr>
              <a:t>Documentación de validación y cierre del release Semana 8.</a:t>
            </a:r>
            <a:endParaRPr lang="en-US" sz="1130" dirty="0"/>
          </a:p>
        </p:txBody>
      </p:sp>
      <p:sp>
        <p:nvSpPr>
          <p:cNvPr id="5" name="Shape 3"/>
          <p:cNvSpPr/>
          <p:nvPr/>
        </p:nvSpPr>
        <p:spPr>
          <a:xfrm>
            <a:off x="0" y="6519672"/>
            <a:ext cx="12191695" cy="338328"/>
          </a:xfrm>
          <a:prstGeom prst="rect">
            <a:avLst/>
          </a:prstGeom>
          <a:solidFill>
            <a:srgbClr val="0B1F33"/>
          </a:solidFill>
          <a:ln w="12700">
            <a:solidFill>
              <a:srgbClr val="0B1F33"/>
            </a:solidFill>
            <a:prstDash val="solid"/>
          </a:ln>
        </p:spPr>
      </p:sp>
      <p:sp>
        <p:nvSpPr>
          <p:cNvPr id="6" name="Text 4"/>
          <p:cNvSpPr/>
          <p:nvPr/>
        </p:nvSpPr>
        <p:spPr>
          <a:xfrm>
            <a:off x="420624" y="6611112"/>
            <a:ext cx="5852160" cy="118872"/>
          </a:xfrm>
          <a:prstGeom prst="rect">
            <a:avLst/>
          </a:prstGeom>
          <a:noFill/>
          <a:ln/>
        </p:spPr>
        <p:txBody>
          <a:bodyPr wrap="square" lIns="0" tIns="0" rIns="0" bIns="0" rtlCol="0" anchor="ctr"/>
          <a:lstStyle/>
          <a:p>
            <a:pPr indent="0" marL="0">
              <a:buNone/>
            </a:pPr>
            <a:r>
              <a:rPr lang="en-US" sz="760" dirty="0">
                <a:solidFill>
                  <a:srgbClr val="FFFFFF"/>
                </a:solidFill>
                <a:latin typeface="Arial" pitchFamily="34" charset="0"/>
                <a:ea typeface="Arial" pitchFamily="34" charset="-122"/>
                <a:cs typeface="Arial" pitchFamily="34" charset="-120"/>
              </a:rPr>
              <a:t>PRY3211 · Ingeniería de Software · Hotel Pacific Reef</a:t>
            </a:r>
            <a:endParaRPr lang="en-US" sz="760" dirty="0"/>
          </a:p>
        </p:txBody>
      </p:sp>
      <p:sp>
        <p:nvSpPr>
          <p:cNvPr id="7" name="Text 5"/>
          <p:cNvSpPr/>
          <p:nvPr/>
        </p:nvSpPr>
        <p:spPr>
          <a:xfrm>
            <a:off x="6858000" y="6611112"/>
            <a:ext cx="3429000" cy="118872"/>
          </a:xfrm>
          <a:prstGeom prst="rect">
            <a:avLst/>
          </a:prstGeom>
          <a:noFill/>
          <a:ln/>
        </p:spPr>
        <p:txBody>
          <a:bodyPr wrap="square" lIns="0" tIns="0" rIns="0" bIns="0" rtlCol="0" anchor="ctr"/>
          <a:lstStyle/>
          <a:p>
            <a:pPr algn="r" indent="0" marL="0">
              <a:buNone/>
            </a:pPr>
            <a:r>
              <a:rPr lang="en-US" sz="760" dirty="0">
                <a:solidFill>
                  <a:srgbClr val="FFFFFF"/>
                </a:solidFill>
                <a:latin typeface="Arial" pitchFamily="34" charset="0"/>
                <a:ea typeface="Arial" pitchFamily="34" charset="-122"/>
                <a:cs typeface="Arial" pitchFamily="34" charset="-120"/>
              </a:rPr>
              <a:t>Habla: Pablo Higueras</a:t>
            </a:r>
            <a:endParaRPr lang="en-US" sz="760" dirty="0"/>
          </a:p>
        </p:txBody>
      </p:sp>
      <p:sp>
        <p:nvSpPr>
          <p:cNvPr id="8" name="Text 6"/>
          <p:cNvSpPr/>
          <p:nvPr/>
        </p:nvSpPr>
        <p:spPr>
          <a:xfrm>
            <a:off x="11064240" y="6556248"/>
            <a:ext cx="685800" cy="1920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08</a:t>
            </a:r>
            <a:endParaRPr lang="en-US" sz="950" dirty="0"/>
          </a:p>
        </p:txBody>
      </p:sp>
      <p:sp>
        <p:nvSpPr>
          <p:cNvPr id="9" name="Shape 7"/>
          <p:cNvSpPr/>
          <p:nvPr/>
        </p:nvSpPr>
        <p:spPr>
          <a:xfrm>
            <a:off x="685800" y="1325880"/>
            <a:ext cx="3383280" cy="4343400"/>
          </a:xfrm>
          <a:prstGeom prst="roundRect">
            <a:avLst>
              <a:gd name="adj" fmla="val 2162"/>
            </a:avLst>
          </a:prstGeom>
          <a:solidFill>
            <a:srgbClr val="FFFFFF"/>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0" name="Text 8"/>
          <p:cNvSpPr/>
          <p:nvPr/>
        </p:nvSpPr>
        <p:spPr>
          <a:xfrm>
            <a:off x="914400" y="1508760"/>
            <a:ext cx="292608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Pruebas S8</a:t>
            </a:r>
            <a:endParaRPr lang="en-US" sz="1460" dirty="0"/>
          </a:p>
        </p:txBody>
      </p:sp>
      <p:sp>
        <p:nvSpPr>
          <p:cNvPr id="11" name="Text 9"/>
          <p:cNvSpPr/>
          <p:nvPr/>
        </p:nvSpPr>
        <p:spPr>
          <a:xfrm>
            <a:off x="914400" y="1856232"/>
            <a:ext cx="2926080" cy="3630168"/>
          </a:xfrm>
          <a:prstGeom prst="rect">
            <a:avLst/>
          </a:prstGeom>
          <a:noFill/>
          <a:ln/>
        </p:spPr>
        <p:txBody>
          <a:bodyPr wrap="square" lIns="254" tIns="254" rIns="254" bIns="254" rtlCol="0" anchor="t">
            <a:normAutofit/>
          </a:bodyPr>
          <a:lstStyle/>
          <a:p>
            <a:pPr indent="0" marL="0">
              <a:buNone/>
            </a:pPr>
            <a:r>
              <a:rPr lang="en-US" sz="1370" dirty="0">
                <a:solidFill>
                  <a:srgbClr val="1F2937"/>
                </a:solidFill>
                <a:latin typeface="Arial" pitchFamily="34" charset="0"/>
                <a:ea typeface="Arial" pitchFamily="34" charset="-122"/>
                <a:cs typeface="Arial" pitchFamily="34" charset="-120"/>
              </a:rPr>
              <a:t>Casos para:</a:t>
            </a:r>
            <a:endParaRPr lang="en-US" sz="1370" dirty="0"/>
          </a:p>
          <a:p>
            <a:pPr indent="0" marL="0">
              <a:buNone/>
            </a:pPr>
            <a:r>
              <a:rPr lang="en-US" sz="1370" dirty="0">
                <a:solidFill>
                  <a:srgbClr val="1F2937"/>
                </a:solidFill>
                <a:latin typeface="Arial" pitchFamily="34" charset="0"/>
                <a:ea typeface="Arial" pitchFamily="34" charset="-122"/>
                <a:cs typeface="Arial" pitchFamily="34" charset="-120"/>
              </a:rPr>
              <a:t>• Carga del sistema</a:t>
            </a:r>
            <a:endParaRPr lang="en-US" sz="1370" dirty="0"/>
          </a:p>
          <a:p>
            <a:pPr indent="0" marL="0">
              <a:buNone/>
            </a:pPr>
            <a:r>
              <a:rPr lang="en-US" sz="1370" dirty="0">
                <a:solidFill>
                  <a:srgbClr val="1F2937"/>
                </a:solidFill>
                <a:latin typeface="Arial" pitchFamily="34" charset="0"/>
                <a:ea typeface="Arial" pitchFamily="34" charset="-122"/>
                <a:cs typeface="Arial" pitchFamily="34" charset="-120"/>
              </a:rPr>
              <a:t>• Base de datos</a:t>
            </a:r>
            <a:endParaRPr lang="en-US" sz="1370" dirty="0"/>
          </a:p>
          <a:p>
            <a:pPr indent="0" marL="0">
              <a:buNone/>
            </a:pPr>
            <a:r>
              <a:rPr lang="en-US" sz="1370" dirty="0">
                <a:solidFill>
                  <a:srgbClr val="1F2937"/>
                </a:solidFill>
                <a:latin typeface="Arial" pitchFamily="34" charset="0"/>
                <a:ea typeface="Arial" pitchFamily="34" charset="-122"/>
                <a:cs typeface="Arial" pitchFamily="34" charset="-120"/>
              </a:rPr>
              <a:t>• Disponibilidad</a:t>
            </a:r>
            <a:endParaRPr lang="en-US" sz="1370" dirty="0"/>
          </a:p>
          <a:p>
            <a:pPr indent="0" marL="0">
              <a:buNone/>
            </a:pPr>
            <a:r>
              <a:rPr lang="en-US" sz="1370" dirty="0">
                <a:solidFill>
                  <a:srgbClr val="1F2937"/>
                </a:solidFill>
                <a:latin typeface="Arial" pitchFamily="34" charset="0"/>
                <a:ea typeface="Arial" pitchFamily="34" charset="-122"/>
                <a:cs typeface="Arial" pitchFamily="34" charset="-120"/>
              </a:rPr>
              <a:t>• Reserva</a:t>
            </a:r>
            <a:endParaRPr lang="en-US" sz="1370" dirty="0"/>
          </a:p>
          <a:p>
            <a:pPr indent="0" marL="0">
              <a:buNone/>
            </a:pPr>
            <a:r>
              <a:rPr lang="en-US" sz="1370" dirty="0">
                <a:solidFill>
                  <a:srgbClr val="1F2937"/>
                </a:solidFill>
                <a:latin typeface="Arial" pitchFamily="34" charset="0"/>
                <a:ea typeface="Arial" pitchFamily="34" charset="-122"/>
                <a:cs typeface="Arial" pitchFamily="34" charset="-120"/>
              </a:rPr>
              <a:t>• Cliente asociado</a:t>
            </a:r>
            <a:endParaRPr lang="en-US" sz="1370" dirty="0"/>
          </a:p>
          <a:p>
            <a:pPr indent="0" marL="0">
              <a:buNone/>
            </a:pPr>
            <a:r>
              <a:rPr lang="en-US" sz="1370" dirty="0">
                <a:solidFill>
                  <a:srgbClr val="1F2937"/>
                </a:solidFill>
                <a:latin typeface="Arial" pitchFamily="34" charset="0"/>
                <a:ea typeface="Arial" pitchFamily="34" charset="-122"/>
                <a:cs typeface="Arial" pitchFamily="34" charset="-120"/>
              </a:rPr>
              <a:t>• Servicio externo</a:t>
            </a:r>
            <a:endParaRPr lang="en-US" sz="1370" dirty="0"/>
          </a:p>
          <a:p>
            <a:pPr indent="0" marL="0">
              <a:buNone/>
            </a:pPr>
            <a:r>
              <a:rPr lang="en-US" sz="1370" dirty="0">
                <a:solidFill>
                  <a:srgbClr val="1F2937"/>
                </a:solidFill>
                <a:latin typeface="Arial" pitchFamily="34" charset="0"/>
                <a:ea typeface="Arial" pitchFamily="34" charset="-122"/>
                <a:cs typeface="Arial" pitchFamily="34" charset="-120"/>
              </a:rPr>
              <a:t>• Endpoints JSON</a:t>
            </a:r>
            <a:endParaRPr lang="en-US" sz="1370" dirty="0"/>
          </a:p>
        </p:txBody>
      </p:sp>
      <p:sp>
        <p:nvSpPr>
          <p:cNvPr id="12" name="Shape 10"/>
          <p:cNvSpPr/>
          <p:nvPr/>
        </p:nvSpPr>
        <p:spPr>
          <a:xfrm>
            <a:off x="4389120" y="1325880"/>
            <a:ext cx="3383280" cy="4343400"/>
          </a:xfrm>
          <a:prstGeom prst="roundRect">
            <a:avLst>
              <a:gd name="adj" fmla="val 2162"/>
            </a:avLst>
          </a:prstGeom>
          <a:solidFill>
            <a:srgbClr val="EAF3FA"/>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3" name="Text 11"/>
          <p:cNvSpPr/>
          <p:nvPr/>
        </p:nvSpPr>
        <p:spPr>
          <a:xfrm>
            <a:off x="4617720" y="1508760"/>
            <a:ext cx="292608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Cierre documental</a:t>
            </a:r>
            <a:endParaRPr lang="en-US" sz="1460" dirty="0"/>
          </a:p>
        </p:txBody>
      </p:sp>
      <p:sp>
        <p:nvSpPr>
          <p:cNvPr id="14" name="Text 12"/>
          <p:cNvSpPr/>
          <p:nvPr/>
        </p:nvSpPr>
        <p:spPr>
          <a:xfrm>
            <a:off x="4617720" y="1856232"/>
            <a:ext cx="2926080" cy="3630168"/>
          </a:xfrm>
          <a:prstGeom prst="rect">
            <a:avLst/>
          </a:prstGeom>
          <a:noFill/>
          <a:ln/>
        </p:spPr>
        <p:txBody>
          <a:bodyPr wrap="square" lIns="254" tIns="254" rIns="254" bIns="254" rtlCol="0" anchor="t">
            <a:normAutofit/>
          </a:bodyPr>
          <a:lstStyle/>
          <a:p>
            <a:pPr indent="0" marL="0">
              <a:buNone/>
            </a:pPr>
            <a:r>
              <a:rPr lang="en-US" sz="1420" dirty="0">
                <a:solidFill>
                  <a:srgbClr val="1F2937"/>
                </a:solidFill>
                <a:latin typeface="Arial" pitchFamily="34" charset="0"/>
                <a:ea typeface="Arial" pitchFamily="34" charset="-122"/>
                <a:cs typeface="Arial" pitchFamily="34" charset="-120"/>
              </a:rPr>
              <a:t>• Definition of Done</a:t>
            </a:r>
            <a:endParaRPr lang="en-US" sz="1420" dirty="0"/>
          </a:p>
          <a:p>
            <a:pPr indent="0" marL="0">
              <a:buNone/>
            </a:pPr>
            <a:r>
              <a:rPr lang="en-US" sz="1420" dirty="0">
                <a:solidFill>
                  <a:srgbClr val="1F2937"/>
                </a:solidFill>
                <a:latin typeface="Arial" pitchFamily="34" charset="0"/>
                <a:ea typeface="Arial" pitchFamily="34" charset="-122"/>
                <a:cs typeface="Arial" pitchFamily="34" charset="-120"/>
              </a:rPr>
              <a:t>• Manual de Usuario Testing</a:t>
            </a:r>
            <a:endParaRPr lang="en-US" sz="1420" dirty="0"/>
          </a:p>
          <a:p>
            <a:pPr indent="0" marL="0">
              <a:buNone/>
            </a:pPr>
            <a:r>
              <a:rPr lang="en-US" sz="1420" dirty="0">
                <a:solidFill>
                  <a:srgbClr val="1F2937"/>
                </a:solidFill>
                <a:latin typeface="Arial" pitchFamily="34" charset="0"/>
                <a:ea typeface="Arial" pitchFamily="34" charset="-122"/>
                <a:cs typeface="Arial" pitchFamily="34" charset="-120"/>
              </a:rPr>
              <a:t>• README actualizado</a:t>
            </a:r>
            <a:endParaRPr lang="en-US" sz="1420" dirty="0"/>
          </a:p>
          <a:p>
            <a:pPr indent="0" marL="0">
              <a:buNone/>
            </a:pPr>
            <a:r>
              <a:rPr lang="en-US" sz="1420" dirty="0">
                <a:solidFill>
                  <a:srgbClr val="1F2937"/>
                </a:solidFill>
                <a:latin typeface="Arial" pitchFamily="34" charset="0"/>
                <a:ea typeface="Arial" pitchFamily="34" charset="-122"/>
                <a:cs typeface="Arial" pitchFamily="34" charset="-120"/>
              </a:rPr>
              <a:t>• Inventario funcional</a:t>
            </a:r>
            <a:endParaRPr lang="en-US" sz="1420" dirty="0"/>
          </a:p>
          <a:p>
            <a:pPr indent="0" marL="0">
              <a:buNone/>
            </a:pPr>
            <a:r>
              <a:rPr lang="en-US" sz="1420" dirty="0">
                <a:solidFill>
                  <a:srgbClr val="1F2937"/>
                </a:solidFill>
                <a:latin typeface="Arial" pitchFamily="34" charset="0"/>
                <a:ea typeface="Arial" pitchFamily="34" charset="-122"/>
                <a:cs typeface="Arial" pitchFamily="34" charset="-120"/>
              </a:rPr>
              <a:t>• Estados por hito</a:t>
            </a:r>
            <a:endParaRPr lang="en-US" sz="1420" dirty="0"/>
          </a:p>
        </p:txBody>
      </p:sp>
      <p:sp>
        <p:nvSpPr>
          <p:cNvPr id="15" name="Shape 13"/>
          <p:cNvSpPr/>
          <p:nvPr/>
        </p:nvSpPr>
        <p:spPr>
          <a:xfrm>
            <a:off x="8092440" y="1325880"/>
            <a:ext cx="3383280" cy="4343400"/>
          </a:xfrm>
          <a:prstGeom prst="roundRect">
            <a:avLst>
              <a:gd name="adj" fmla="val 2162"/>
            </a:avLst>
          </a:prstGeom>
          <a:solidFill>
            <a:srgbClr val="E7F7F5"/>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6" name="Text 14"/>
          <p:cNvSpPr/>
          <p:nvPr/>
        </p:nvSpPr>
        <p:spPr>
          <a:xfrm>
            <a:off x="8321040" y="1508760"/>
            <a:ext cx="292608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Evidencias y video</a:t>
            </a:r>
            <a:endParaRPr lang="en-US" sz="1460" dirty="0"/>
          </a:p>
        </p:txBody>
      </p:sp>
      <p:sp>
        <p:nvSpPr>
          <p:cNvPr id="17" name="Text 15"/>
          <p:cNvSpPr/>
          <p:nvPr/>
        </p:nvSpPr>
        <p:spPr>
          <a:xfrm>
            <a:off x="8321040" y="1856232"/>
            <a:ext cx="2926080" cy="3630168"/>
          </a:xfrm>
          <a:prstGeom prst="rect">
            <a:avLst/>
          </a:prstGeom>
          <a:noFill/>
          <a:ln/>
        </p:spPr>
        <p:txBody>
          <a:bodyPr wrap="square" lIns="254" tIns="254" rIns="254" bIns="254" rtlCol="0" anchor="t">
            <a:normAutofit/>
          </a:bodyPr>
          <a:lstStyle/>
          <a:p>
            <a:pPr indent="0" marL="0">
              <a:buNone/>
            </a:pPr>
            <a:r>
              <a:rPr lang="en-US" sz="1350" dirty="0">
                <a:solidFill>
                  <a:srgbClr val="1F2937"/>
                </a:solidFill>
                <a:latin typeface="Arial" pitchFamily="34" charset="0"/>
                <a:ea typeface="Arial" pitchFamily="34" charset="-122"/>
                <a:cs typeface="Arial" pitchFamily="34" charset="-120"/>
              </a:rPr>
              <a:t>Evidencias organizadas por carpeta.</a:t>
            </a:r>
            <a:endParaRPr lang="en-US" sz="1350" dirty="0"/>
          </a:p>
          <a:p>
            <a:pPr indent="0" marL="0">
              <a:buNone/>
            </a:pPr>
            <a:endParaRPr lang="en-US" sz="1350" dirty="0"/>
          </a:p>
          <a:p>
            <a:pPr indent="0" marL="0">
              <a:buNone/>
            </a:pPr>
            <a:r>
              <a:rPr lang="en-US" sz="1350" dirty="0">
                <a:solidFill>
                  <a:srgbClr val="1F2937"/>
                </a:solidFill>
                <a:latin typeface="Arial" pitchFamily="34" charset="0"/>
                <a:ea typeface="Arial" pitchFamily="34" charset="-122"/>
                <a:cs typeface="Arial" pitchFamily="34" charset="-120"/>
              </a:rPr>
              <a:t>Video demostrativo funcional:</a:t>
            </a:r>
            <a:endParaRPr lang="en-US" sz="1350" dirty="0"/>
          </a:p>
        </p:txBody>
      </p:sp>
      <p:sp>
        <p:nvSpPr>
          <p:cNvPr id="18" name="Text 16">
            <a:hlinkClick r:id="rId1" tooltip=""/>
          </p:cNvPr>
          <p:cNvSpPr/>
          <p:nvPr/>
        </p:nvSpPr>
        <p:spPr>
          <a:xfrm>
            <a:off x="8321040" y="3246120"/>
            <a:ext cx="2788920" cy="384048"/>
          </a:xfrm>
          <a:prstGeom prst="rect">
            <a:avLst/>
          </a:prstGeom>
          <a:noFill/>
          <a:ln/>
        </p:spPr>
        <p:txBody>
          <a:bodyPr wrap="square" lIns="0" tIns="0" rIns="0" bIns="0" rtlCol="0" anchor="ctr"/>
          <a:lstStyle/>
          <a:p>
            <a:pPr indent="0" marL="0">
              <a:buNone/>
            </a:pPr>
            <a:r>
              <a:rPr lang="en-US" sz="1320" u="sng" dirty="0">
                <a:solidFill>
                  <a:srgbClr val="145DA0"/>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https://youtu.be/h2CGMhZ86Uk</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BB3A3"/>
          </a:solidFill>
          <a:ln w="12700">
            <a:solidFill>
              <a:srgbClr val="2BB3A3"/>
            </a:solidFill>
            <a:prstDash val="solid"/>
          </a:ln>
        </p:spPr>
      </p:sp>
      <p:sp>
        <p:nvSpPr>
          <p:cNvPr id="3" name="Text 1"/>
          <p:cNvSpPr/>
          <p:nvPr/>
        </p:nvSpPr>
        <p:spPr>
          <a:xfrm>
            <a:off x="594360" y="493776"/>
            <a:ext cx="9784080" cy="411480"/>
          </a:xfrm>
          <a:prstGeom prst="rect">
            <a:avLst/>
          </a:prstGeom>
          <a:noFill/>
          <a:ln/>
        </p:spPr>
        <p:txBody>
          <a:bodyPr wrap="square" lIns="0" tIns="0" rIns="0" bIns="0" rtlCol="0" anchor="ctr"/>
          <a:lstStyle/>
          <a:p>
            <a:pPr indent="0" marL="0">
              <a:buNone/>
            </a:pPr>
            <a:r>
              <a:rPr lang="en-US" sz="2500" b="1" dirty="0">
                <a:solidFill>
                  <a:srgbClr val="0B1F33"/>
                </a:solidFill>
                <a:latin typeface="Arial" pitchFamily="34" charset="0"/>
                <a:ea typeface="Arial" pitchFamily="34" charset="-122"/>
                <a:cs typeface="Arial" pitchFamily="34" charset="-120"/>
              </a:rPr>
              <a:t>Cierre</a:t>
            </a:r>
            <a:endParaRPr lang="en-US" sz="2500" dirty="0"/>
          </a:p>
        </p:txBody>
      </p:sp>
      <p:sp>
        <p:nvSpPr>
          <p:cNvPr id="4" name="Text 2"/>
          <p:cNvSpPr/>
          <p:nvPr/>
        </p:nvSpPr>
        <p:spPr>
          <a:xfrm>
            <a:off x="621792" y="960120"/>
            <a:ext cx="10424160" cy="228600"/>
          </a:xfrm>
          <a:prstGeom prst="rect">
            <a:avLst/>
          </a:prstGeom>
          <a:noFill/>
          <a:ln/>
        </p:spPr>
        <p:txBody>
          <a:bodyPr wrap="square" lIns="0" tIns="0" rIns="0" bIns="0" rtlCol="0" anchor="ctr"/>
          <a:lstStyle/>
          <a:p>
            <a:pPr indent="0" marL="0">
              <a:buNone/>
            </a:pPr>
            <a:r>
              <a:rPr lang="en-US" sz="1130" dirty="0">
                <a:solidFill>
                  <a:srgbClr val="637083"/>
                </a:solidFill>
                <a:latin typeface="Arial" pitchFamily="34" charset="0"/>
                <a:ea typeface="Arial" pitchFamily="34" charset="-122"/>
                <a:cs typeface="Arial" pitchFamily="34" charset="-120"/>
              </a:rPr>
              <a:t>Resultado final del release Semana 8.</a:t>
            </a:r>
            <a:endParaRPr lang="en-US" sz="1130" dirty="0"/>
          </a:p>
        </p:txBody>
      </p:sp>
      <p:sp>
        <p:nvSpPr>
          <p:cNvPr id="5" name="Shape 3"/>
          <p:cNvSpPr/>
          <p:nvPr/>
        </p:nvSpPr>
        <p:spPr>
          <a:xfrm>
            <a:off x="0" y="6519672"/>
            <a:ext cx="12191695" cy="338328"/>
          </a:xfrm>
          <a:prstGeom prst="rect">
            <a:avLst/>
          </a:prstGeom>
          <a:solidFill>
            <a:srgbClr val="0B1F33"/>
          </a:solidFill>
          <a:ln w="12700">
            <a:solidFill>
              <a:srgbClr val="0B1F33"/>
            </a:solidFill>
            <a:prstDash val="solid"/>
          </a:ln>
        </p:spPr>
      </p:sp>
      <p:sp>
        <p:nvSpPr>
          <p:cNvPr id="6" name="Text 4"/>
          <p:cNvSpPr/>
          <p:nvPr/>
        </p:nvSpPr>
        <p:spPr>
          <a:xfrm>
            <a:off x="420624" y="6611112"/>
            <a:ext cx="5852160" cy="118872"/>
          </a:xfrm>
          <a:prstGeom prst="rect">
            <a:avLst/>
          </a:prstGeom>
          <a:noFill/>
          <a:ln/>
        </p:spPr>
        <p:txBody>
          <a:bodyPr wrap="square" lIns="0" tIns="0" rIns="0" bIns="0" rtlCol="0" anchor="ctr"/>
          <a:lstStyle/>
          <a:p>
            <a:pPr indent="0" marL="0">
              <a:buNone/>
            </a:pPr>
            <a:r>
              <a:rPr lang="en-US" sz="760" dirty="0">
                <a:solidFill>
                  <a:srgbClr val="FFFFFF"/>
                </a:solidFill>
                <a:latin typeface="Arial" pitchFamily="34" charset="0"/>
                <a:ea typeface="Arial" pitchFamily="34" charset="-122"/>
                <a:cs typeface="Arial" pitchFamily="34" charset="-120"/>
              </a:rPr>
              <a:t>PRY3211 · Ingeniería de Software · Hotel Pacific Reef</a:t>
            </a:r>
            <a:endParaRPr lang="en-US" sz="760" dirty="0"/>
          </a:p>
        </p:txBody>
      </p:sp>
      <p:sp>
        <p:nvSpPr>
          <p:cNvPr id="7" name="Text 5"/>
          <p:cNvSpPr/>
          <p:nvPr/>
        </p:nvSpPr>
        <p:spPr>
          <a:xfrm>
            <a:off x="6858000" y="6611112"/>
            <a:ext cx="3429000" cy="118872"/>
          </a:xfrm>
          <a:prstGeom prst="rect">
            <a:avLst/>
          </a:prstGeom>
          <a:noFill/>
          <a:ln/>
        </p:spPr>
        <p:txBody>
          <a:bodyPr wrap="square" lIns="0" tIns="0" rIns="0" bIns="0" rtlCol="0" anchor="ctr"/>
          <a:lstStyle/>
          <a:p>
            <a:pPr algn="r" indent="0" marL="0">
              <a:buNone/>
            </a:pPr>
            <a:r>
              <a:rPr lang="en-US" sz="760" dirty="0">
                <a:solidFill>
                  <a:srgbClr val="FFFFFF"/>
                </a:solidFill>
                <a:latin typeface="Arial" pitchFamily="34" charset="0"/>
                <a:ea typeface="Arial" pitchFamily="34" charset="-122"/>
                <a:cs typeface="Arial" pitchFamily="34" charset="-120"/>
              </a:rPr>
              <a:t>Habla: Pablo Higueras</a:t>
            </a:r>
            <a:endParaRPr lang="en-US" sz="760" dirty="0"/>
          </a:p>
        </p:txBody>
      </p:sp>
      <p:sp>
        <p:nvSpPr>
          <p:cNvPr id="8" name="Text 6"/>
          <p:cNvSpPr/>
          <p:nvPr/>
        </p:nvSpPr>
        <p:spPr>
          <a:xfrm>
            <a:off x="11064240" y="6556248"/>
            <a:ext cx="685800" cy="1920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09</a:t>
            </a:r>
            <a:endParaRPr lang="en-US" sz="950" dirty="0"/>
          </a:p>
        </p:txBody>
      </p:sp>
      <p:sp>
        <p:nvSpPr>
          <p:cNvPr id="9" name="Shape 7"/>
          <p:cNvSpPr/>
          <p:nvPr/>
        </p:nvSpPr>
        <p:spPr>
          <a:xfrm>
            <a:off x="777240" y="1298448"/>
            <a:ext cx="10652760" cy="3200400"/>
          </a:xfrm>
          <a:prstGeom prst="roundRect">
            <a:avLst>
              <a:gd name="adj" fmla="val 2286"/>
            </a:avLst>
          </a:prstGeom>
          <a:solidFill>
            <a:srgbClr val="FFFFFF"/>
          </a:solidFill>
          <a:ln w="12700">
            <a:solidFill>
              <a:srgbClr val="D1D5DB">
                <a:alpha val="88000"/>
              </a:srgbClr>
            </a:solidFill>
            <a:prstDash val="solid"/>
          </a:ln>
          <a:effectLst>
            <a:outerShdw sx="100000" sy="100000" kx="0" ky="0" algn="bl" rotWithShape="0" blurRad="12700" dist="50800" dir="2700000">
              <a:srgbClr val="9CA3AF">
                <a:alpha val="12000"/>
              </a:srgbClr>
            </a:outerShdw>
          </a:effectLst>
        </p:spPr>
      </p:sp>
      <p:sp>
        <p:nvSpPr>
          <p:cNvPr id="10" name="Text 8"/>
          <p:cNvSpPr/>
          <p:nvPr/>
        </p:nvSpPr>
        <p:spPr>
          <a:xfrm>
            <a:off x="1005840" y="1481328"/>
            <a:ext cx="10195560" cy="219456"/>
          </a:xfrm>
          <a:prstGeom prst="rect">
            <a:avLst/>
          </a:prstGeom>
          <a:noFill/>
          <a:ln/>
        </p:spPr>
        <p:txBody>
          <a:bodyPr wrap="square" lIns="0" tIns="0" rIns="0" bIns="0" rtlCol="0" anchor="ctr"/>
          <a:lstStyle/>
          <a:p>
            <a:pPr indent="0" marL="0">
              <a:buNone/>
            </a:pPr>
            <a:r>
              <a:rPr lang="en-US" sz="1460" b="1" dirty="0">
                <a:solidFill>
                  <a:srgbClr val="0B1F33"/>
                </a:solidFill>
                <a:latin typeface="Arial" pitchFamily="34" charset="0"/>
                <a:ea typeface="Arial" pitchFamily="34" charset="-122"/>
                <a:cs typeface="Arial" pitchFamily="34" charset="-120"/>
              </a:rPr>
              <a:t>El release Semana 8 fortalece el MVP anterior mediante:</a:t>
            </a:r>
            <a:endParaRPr lang="en-US" sz="1460" dirty="0"/>
          </a:p>
        </p:txBody>
      </p:sp>
      <p:sp>
        <p:nvSpPr>
          <p:cNvPr id="11" name="Text 9"/>
          <p:cNvSpPr/>
          <p:nvPr/>
        </p:nvSpPr>
        <p:spPr>
          <a:xfrm>
            <a:off x="1005840" y="1828800"/>
            <a:ext cx="10195560" cy="2487168"/>
          </a:xfrm>
          <a:prstGeom prst="rect">
            <a:avLst/>
          </a:prstGeom>
          <a:noFill/>
          <a:ln/>
        </p:spPr>
        <p:txBody>
          <a:bodyPr wrap="square" lIns="254" tIns="254" rIns="254" bIns="254" rtlCol="0" anchor="t">
            <a:normAutofit/>
          </a:bodyPr>
          <a:lstStyle/>
          <a:p>
            <a:pPr indent="0" marL="0">
              <a:buNone/>
            </a:pPr>
            <a:r>
              <a:rPr lang="en-US" sz="1620" dirty="0">
                <a:solidFill>
                  <a:srgbClr val="1F2937"/>
                </a:solidFill>
                <a:latin typeface="Arial" pitchFamily="34" charset="0"/>
                <a:ea typeface="Arial" pitchFamily="34" charset="-122"/>
                <a:cs typeface="Arial" pitchFamily="34" charset="-120"/>
              </a:rPr>
              <a:t>• Integración entre interfaz web, back-end y SQLite</a:t>
            </a:r>
            <a:endParaRPr lang="en-US" sz="1620" dirty="0"/>
          </a:p>
          <a:p>
            <a:pPr indent="0" marL="0">
              <a:buNone/>
            </a:pPr>
            <a:r>
              <a:rPr lang="en-US" sz="1620" dirty="0">
                <a:solidFill>
                  <a:srgbClr val="1F2937"/>
                </a:solidFill>
                <a:latin typeface="Arial" pitchFamily="34" charset="0"/>
                <a:ea typeface="Arial" pitchFamily="34" charset="-122"/>
                <a:cs typeface="Arial" pitchFamily="34" charset="-120"/>
              </a:rPr>
              <a:t>• Consumo de servicio externo Open-Meteo</a:t>
            </a:r>
            <a:endParaRPr lang="en-US" sz="1620" dirty="0"/>
          </a:p>
          <a:p>
            <a:pPr indent="0" marL="0">
              <a:buNone/>
            </a:pPr>
            <a:r>
              <a:rPr lang="en-US" sz="1620" dirty="0">
                <a:solidFill>
                  <a:srgbClr val="1F2937"/>
                </a:solidFill>
                <a:latin typeface="Arial" pitchFamily="34" charset="0"/>
                <a:ea typeface="Arial" pitchFamily="34" charset="-122"/>
                <a:cs typeface="Arial" pitchFamily="34" charset="-120"/>
              </a:rPr>
              <a:t>• Exposición de información mediante endpoints JSON</a:t>
            </a:r>
            <a:endParaRPr lang="en-US" sz="1620" dirty="0"/>
          </a:p>
          <a:p>
            <a:pPr indent="0" marL="0">
              <a:buNone/>
            </a:pPr>
            <a:r>
              <a:rPr lang="en-US" sz="1620" dirty="0">
                <a:solidFill>
                  <a:srgbClr val="1F2937"/>
                </a:solidFill>
                <a:latin typeface="Arial" pitchFamily="34" charset="0"/>
                <a:ea typeface="Arial" pitchFamily="34" charset="-122"/>
                <a:cs typeface="Arial" pitchFamily="34" charset="-120"/>
              </a:rPr>
              <a:t>• Reserva asociada a cliente real</a:t>
            </a:r>
            <a:endParaRPr lang="en-US" sz="1620" dirty="0"/>
          </a:p>
          <a:p>
            <a:pPr indent="0" marL="0">
              <a:buNone/>
            </a:pPr>
            <a:r>
              <a:rPr lang="en-US" sz="1620" dirty="0">
                <a:solidFill>
                  <a:srgbClr val="1F2937"/>
                </a:solidFill>
                <a:latin typeface="Arial" pitchFamily="34" charset="0"/>
                <a:ea typeface="Arial" pitchFamily="34" charset="-122"/>
                <a:cs typeface="Arial" pitchFamily="34" charset="-120"/>
              </a:rPr>
              <a:t>• Pruebas, DOD, manual y evidencias organizadas</a:t>
            </a:r>
            <a:endParaRPr lang="en-US" sz="1620" dirty="0"/>
          </a:p>
        </p:txBody>
      </p:sp>
      <p:sp>
        <p:nvSpPr>
          <p:cNvPr id="12" name="Shape 10"/>
          <p:cNvSpPr/>
          <p:nvPr/>
        </p:nvSpPr>
        <p:spPr>
          <a:xfrm>
            <a:off x="777240" y="4892040"/>
            <a:ext cx="10652760" cy="713232"/>
          </a:xfrm>
          <a:prstGeom prst="rect">
            <a:avLst/>
          </a:prstGeom>
          <a:solidFill>
            <a:srgbClr val="0B1F33"/>
          </a:solidFill>
          <a:ln w="12700">
            <a:solidFill>
              <a:srgbClr val="0B1F33"/>
            </a:solidFill>
            <a:prstDash val="solid"/>
          </a:ln>
        </p:spPr>
      </p:sp>
      <p:sp>
        <p:nvSpPr>
          <p:cNvPr id="13" name="Text 11"/>
          <p:cNvSpPr/>
          <p:nvPr/>
        </p:nvSpPr>
        <p:spPr>
          <a:xfrm>
            <a:off x="960120" y="5120640"/>
            <a:ext cx="10287000" cy="21945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Estado final: prototipo académico funcional en ambiente local.</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 Pacific Reef - Release funcional Semana 8 - Guion alineado</dc:title>
  <dc:subject>PRY3211 Semana 8 - Hotel Pacific Reef</dc:subject>
  <dc:creator>Pablo Higueras</dc:creator>
  <cp:lastModifiedBy>Pablo Higueras</cp:lastModifiedBy>
  <cp:revision>1</cp:revision>
  <dcterms:created xsi:type="dcterms:W3CDTF">2026-05-02T03:03:51Z</dcterms:created>
  <dcterms:modified xsi:type="dcterms:W3CDTF">2026-05-02T03:03:51Z</dcterms:modified>
</cp:coreProperties>
</file>